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  <p:sldMasterId id="2147483650" r:id="rId2"/>
  </p:sldMasterIdLst>
  <p:notesMasterIdLst>
    <p:notesMasterId r:id="rId40"/>
  </p:notesMasterIdLst>
  <p:sldIdLst>
    <p:sldId id="293" r:id="rId3"/>
    <p:sldId id="294" r:id="rId4"/>
    <p:sldId id="295" r:id="rId5"/>
    <p:sldId id="296" r:id="rId6"/>
    <p:sldId id="297" r:id="rId7"/>
    <p:sldId id="298" r:id="rId8"/>
    <p:sldId id="299" r:id="rId9"/>
    <p:sldId id="300" r:id="rId10"/>
    <p:sldId id="301" r:id="rId11"/>
    <p:sldId id="302" r:id="rId12"/>
    <p:sldId id="303" r:id="rId13"/>
    <p:sldId id="304" r:id="rId14"/>
    <p:sldId id="305" r:id="rId15"/>
    <p:sldId id="306" r:id="rId16"/>
    <p:sldId id="307" r:id="rId17"/>
    <p:sldId id="308" r:id="rId18"/>
    <p:sldId id="309" r:id="rId19"/>
    <p:sldId id="310" r:id="rId20"/>
    <p:sldId id="311" r:id="rId21"/>
    <p:sldId id="312" r:id="rId22"/>
    <p:sldId id="313" r:id="rId23"/>
    <p:sldId id="314" r:id="rId24"/>
    <p:sldId id="315" r:id="rId25"/>
    <p:sldId id="316" r:id="rId26"/>
    <p:sldId id="317" r:id="rId27"/>
    <p:sldId id="318" r:id="rId28"/>
    <p:sldId id="319" r:id="rId29"/>
    <p:sldId id="320" r:id="rId30"/>
    <p:sldId id="321" r:id="rId31"/>
    <p:sldId id="322" r:id="rId32"/>
    <p:sldId id="323" r:id="rId33"/>
    <p:sldId id="324" r:id="rId34"/>
    <p:sldId id="325" r:id="rId35"/>
    <p:sldId id="326" r:id="rId36"/>
    <p:sldId id="327" r:id="rId37"/>
    <p:sldId id="333" r:id="rId38"/>
    <p:sldId id="334" r:id="rId3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3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4236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1A1430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rgbClr val="4A4264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937760"/>
            <a:ext cx="4023360" cy="4023360"/>
          </a:xfrm>
          <a:prstGeom prst="ellipse">
            <a:avLst/>
          </a:prstGeom>
          <a:solidFill>
            <a:srgbClr val="161B28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3" name="Shape 1"/>
          <p:cNvSpPr/>
          <p:nvPr/>
        </p:nvSpPr>
        <p:spPr>
          <a:xfrm>
            <a:off x="10607040" y="-1645920"/>
            <a:ext cx="3291840" cy="3291840"/>
          </a:xfrm>
          <a:prstGeom prst="ellipse">
            <a:avLst/>
          </a:prstGeom>
          <a:solidFill>
            <a:srgbClr val="161B28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4" name="Shape 2"/>
          <p:cNvSpPr/>
          <p:nvPr/>
        </p:nvSpPr>
        <p:spPr>
          <a:xfrm>
            <a:off x="9628632" y="77724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FFE4EA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5" name="Text 3"/>
          <p:cNvSpPr/>
          <p:nvPr/>
        </p:nvSpPr>
        <p:spPr>
          <a:xfrm>
            <a:off x="9628632" y="777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E11D4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دليل تقني عملي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937760" y="1234440"/>
            <a:ext cx="67025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0" b="1" kern="0" spc="100" dirty="0">
                <a:solidFill>
                  <a:srgbClr val="FF4D6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Laravel</a:t>
            </a:r>
            <a:endParaRPr lang="en-US" sz="8800" dirty="0"/>
          </a:p>
        </p:txBody>
      </p:sp>
      <p:sp>
        <p:nvSpPr>
          <p:cNvPr id="7" name="Text 5"/>
          <p:cNvSpPr/>
          <p:nvPr/>
        </p:nvSpPr>
        <p:spPr>
          <a:xfrm>
            <a:off x="4937760" y="2697480"/>
            <a:ext cx="670255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270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الدليل التقني الشامل — الإصدار 13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4937760" y="3383280"/>
            <a:ext cx="670255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500" dirty="0">
                <a:solidFill>
                  <a:srgbClr val="8B84A3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من تجهيز البيئة إلى النشر في الإنتاج: بنية الإطار، Eloquent، بناء الـ API، الحماية، والأداء — بالأمثلة البرمجية خطوة بخطوة.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460736" y="4434840"/>
            <a:ext cx="1179576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FE9F2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10" name="Text 8"/>
          <p:cNvSpPr/>
          <p:nvPr/>
        </p:nvSpPr>
        <p:spPr>
          <a:xfrm>
            <a:off x="10460736" y="4434840"/>
            <a:ext cx="1179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150" b="1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PHP 8.3+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116568" y="4434840"/>
            <a:ext cx="1179576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FE9F2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12" name="Text 10"/>
          <p:cNvSpPr/>
          <p:nvPr/>
        </p:nvSpPr>
        <p:spPr>
          <a:xfrm>
            <a:off x="9116568" y="4434840"/>
            <a:ext cx="1179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150" b="1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35 شريحة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484364" y="4434840"/>
            <a:ext cx="1467612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FE9F2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14" name="Text 12"/>
          <p:cNvSpPr/>
          <p:nvPr/>
        </p:nvSpPr>
        <p:spPr>
          <a:xfrm>
            <a:off x="7484364" y="4434840"/>
            <a:ext cx="14676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150" b="1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أمثلة عملية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524244" y="4434840"/>
            <a:ext cx="795528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FE9F2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16" name="Text 14"/>
          <p:cNvSpPr/>
          <p:nvPr/>
        </p:nvSpPr>
        <p:spPr>
          <a:xfrm>
            <a:off x="6524244" y="4434840"/>
            <a:ext cx="795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150" b="1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2026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937760" y="6172200"/>
            <a:ext cx="67025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200" dirty="0">
                <a:solidFill>
                  <a:srgbClr val="8B84A3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إعداد: يوسف المعولي — yusif.om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1417320"/>
            <a:ext cx="3977640" cy="2880360"/>
          </a:xfrm>
          <a:prstGeom prst="roundRect">
            <a:avLst>
              <a:gd name="adj" fmla="val 2857"/>
            </a:avLst>
          </a:prstGeom>
          <a:solidFill>
            <a:srgbClr val="0A0E16"/>
          </a:solidFill>
          <a:ln w="12700">
            <a:solidFill>
              <a:srgbClr val="EFE9F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19" name="Shape 17"/>
          <p:cNvSpPr/>
          <p:nvPr/>
        </p:nvSpPr>
        <p:spPr>
          <a:xfrm>
            <a:off x="749808" y="1563624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20" name="Shape 18"/>
          <p:cNvSpPr/>
          <p:nvPr/>
        </p:nvSpPr>
        <p:spPr>
          <a:xfrm>
            <a:off x="905256" y="1563624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21" name="Shape 19"/>
          <p:cNvSpPr/>
          <p:nvPr/>
        </p:nvSpPr>
        <p:spPr>
          <a:xfrm>
            <a:off x="1060704" y="1563624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22" name="Text 20"/>
          <p:cNvSpPr/>
          <p:nvPr/>
        </p:nvSpPr>
        <p:spPr>
          <a:xfrm>
            <a:off x="1325880" y="146304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routes/web.php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9808" y="1801368"/>
            <a:ext cx="3575304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Route::get('/journey', function () {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view('guide', [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'from' =&gt; 'الأساسيات',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'to'   =&gt; 'الإطلاق',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]);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452628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E7C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artisan serve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521927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89888" cy="310896"/>
          </a:xfrm>
          <a:prstGeom prst="roundRect">
            <a:avLst>
              <a:gd name="adj" fmla="val 50000"/>
            </a:avLst>
          </a:prstGeom>
          <a:solidFill>
            <a:srgbClr val="FFE4EA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11D4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خارطة الدليل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1155680" y="384048"/>
            <a:ext cx="493776" cy="4937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4062" y="512430"/>
            <a:ext cx="237012" cy="2370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834640" y="310896"/>
            <a:ext cx="8183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70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ماذا سنغطي في هذا الدليل؟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/ 35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784080" y="647395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8B84A3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دليل Laravel التقني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9244584" y="1371600"/>
            <a:ext cx="2752344" cy="2212848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12700">
            <a:solidFill>
              <a:srgbClr val="EFE9F2"/>
            </a:solidFill>
            <a:prstDash val="solid"/>
          </a:ln>
          <a:effectLst>
            <a:outerShdw blurRad="889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10" name="Shape 7"/>
          <p:cNvSpPr/>
          <p:nvPr/>
        </p:nvSpPr>
        <p:spPr>
          <a:xfrm>
            <a:off x="11338560" y="1554480"/>
            <a:ext cx="420624" cy="420624"/>
          </a:xfrm>
          <a:prstGeom prst="ellipse">
            <a:avLst/>
          </a:prstGeom>
          <a:solidFill>
            <a:srgbClr val="FF4D6D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1" name="Text 8"/>
          <p:cNvSpPr/>
          <p:nvPr/>
        </p:nvSpPr>
        <p:spPr>
          <a:xfrm>
            <a:off x="11338560" y="1554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427464" y="1536192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6336" y="1655064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381744" y="2084832"/>
            <a:ext cx="238658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الأساسيات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9381744" y="2487168"/>
            <a:ext cx="23865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050" dirty="0">
                <a:solidFill>
                  <a:srgbClr val="8B84A3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ما هو Laravel، التثبيت، هيكل المشروع، و Artisan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9381744" y="3255264"/>
            <a:ext cx="2386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E11D4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شرائح 3 – 8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345936" y="1371600"/>
            <a:ext cx="2752344" cy="2212848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12700">
            <a:solidFill>
              <a:srgbClr val="EFE9F2"/>
            </a:solidFill>
            <a:prstDash val="solid"/>
          </a:ln>
          <a:effectLst>
            <a:outerShdw blurRad="889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18" name="Shape 14"/>
          <p:cNvSpPr/>
          <p:nvPr/>
        </p:nvSpPr>
        <p:spPr>
          <a:xfrm>
            <a:off x="8439912" y="1554480"/>
            <a:ext cx="420624" cy="420624"/>
          </a:xfrm>
          <a:prstGeom prst="ellipse">
            <a:avLst/>
          </a:prstGeom>
          <a:solidFill>
            <a:srgbClr val="FF4D6D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9" name="Text 15"/>
          <p:cNvSpPr/>
          <p:nvPr/>
        </p:nvSpPr>
        <p:spPr>
          <a:xfrm>
            <a:off x="8439912" y="1554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6528816" y="1536192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7688" y="1655064"/>
            <a:ext cx="219456" cy="21945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83096" y="2084832"/>
            <a:ext cx="238658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التوجيه والمتحكمات</a:t>
            </a:r>
            <a:endParaRPr lang="en-US" sz="1550" dirty="0"/>
          </a:p>
        </p:txBody>
      </p:sp>
      <p:sp>
        <p:nvSpPr>
          <p:cNvPr id="23" name="Text 18"/>
          <p:cNvSpPr/>
          <p:nvPr/>
        </p:nvSpPr>
        <p:spPr>
          <a:xfrm>
            <a:off x="6483096" y="2487168"/>
            <a:ext cx="23865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050" dirty="0">
                <a:solidFill>
                  <a:srgbClr val="8B84A3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Routing الأساسي والمتقدم، Controllers ونمط Resource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6483096" y="3255264"/>
            <a:ext cx="2386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E11D4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شرائح 9 – 11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3447288" y="1371600"/>
            <a:ext cx="2752344" cy="2212848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12700">
            <a:solidFill>
              <a:srgbClr val="EFE9F2"/>
            </a:solidFill>
            <a:prstDash val="solid"/>
          </a:ln>
          <a:effectLst>
            <a:outerShdw blurRad="889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26" name="Shape 21"/>
          <p:cNvSpPr/>
          <p:nvPr/>
        </p:nvSpPr>
        <p:spPr>
          <a:xfrm>
            <a:off x="5541264" y="1554480"/>
            <a:ext cx="420624" cy="420624"/>
          </a:xfrm>
          <a:prstGeom prst="ellipse">
            <a:avLst/>
          </a:prstGeom>
          <a:solidFill>
            <a:srgbClr val="FF4D6D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27" name="Text 22"/>
          <p:cNvSpPr/>
          <p:nvPr/>
        </p:nvSpPr>
        <p:spPr>
          <a:xfrm>
            <a:off x="5541264" y="1554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Shape 23"/>
          <p:cNvSpPr/>
          <p:nvPr/>
        </p:nvSpPr>
        <p:spPr>
          <a:xfrm>
            <a:off x="3630168" y="1536192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9040" y="1655064"/>
            <a:ext cx="219456" cy="219456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3584448" y="2084832"/>
            <a:ext cx="238658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واجهات Blade</a:t>
            </a:r>
            <a:endParaRPr lang="en-US" sz="1550" dirty="0"/>
          </a:p>
        </p:txBody>
      </p:sp>
      <p:sp>
        <p:nvSpPr>
          <p:cNvPr id="31" name="Text 25"/>
          <p:cNvSpPr/>
          <p:nvPr/>
        </p:nvSpPr>
        <p:spPr>
          <a:xfrm>
            <a:off x="3584448" y="2487168"/>
            <a:ext cx="23865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050" dirty="0">
                <a:solidFill>
                  <a:srgbClr val="8B84A3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صياغة القوالب، التخطيطات، والمكوّنات القابلة لإعادة الاستخدام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3584448" y="3255264"/>
            <a:ext cx="2386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E11D4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شرائح 12 – 13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548640" y="1371600"/>
            <a:ext cx="2752344" cy="2212848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12700">
            <a:solidFill>
              <a:srgbClr val="EFE9F2"/>
            </a:solidFill>
            <a:prstDash val="solid"/>
          </a:ln>
          <a:effectLst>
            <a:outerShdw blurRad="889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34" name="Shape 28"/>
          <p:cNvSpPr/>
          <p:nvPr/>
        </p:nvSpPr>
        <p:spPr>
          <a:xfrm>
            <a:off x="2642616" y="1554480"/>
            <a:ext cx="420624" cy="420624"/>
          </a:xfrm>
          <a:prstGeom prst="ellipse">
            <a:avLst/>
          </a:prstGeom>
          <a:solidFill>
            <a:srgbClr val="FF4D6D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35" name="Text 29"/>
          <p:cNvSpPr/>
          <p:nvPr/>
        </p:nvSpPr>
        <p:spPr>
          <a:xfrm>
            <a:off x="2642616" y="1554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4</a:t>
            </a:r>
            <a:endParaRPr lang="en-US" sz="1600" dirty="0"/>
          </a:p>
        </p:txBody>
      </p:sp>
      <p:sp>
        <p:nvSpPr>
          <p:cNvPr id="36" name="Shape 3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392" y="1655064"/>
            <a:ext cx="219456" cy="219456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685800" y="2084832"/>
            <a:ext cx="238658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قاعدة البيانات</a:t>
            </a:r>
            <a:endParaRPr lang="en-US" sz="1550" dirty="0"/>
          </a:p>
        </p:txBody>
      </p:sp>
      <p:sp>
        <p:nvSpPr>
          <p:cNvPr id="39" name="Text 32"/>
          <p:cNvSpPr/>
          <p:nvPr/>
        </p:nvSpPr>
        <p:spPr>
          <a:xfrm>
            <a:off x="685800" y="2487168"/>
            <a:ext cx="23865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050" dirty="0">
                <a:solidFill>
                  <a:srgbClr val="8B84A3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Migrations، نماذج Eloquent، العلاقات، والاستعلامات</a:t>
            </a:r>
            <a:endParaRPr lang="en-US" sz="1050" dirty="0"/>
          </a:p>
        </p:txBody>
      </p:sp>
      <p:sp>
        <p:nvSpPr>
          <p:cNvPr id="40" name="Text 33"/>
          <p:cNvSpPr/>
          <p:nvPr/>
        </p:nvSpPr>
        <p:spPr>
          <a:xfrm>
            <a:off x="685800" y="3255264"/>
            <a:ext cx="2386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E11D4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شرائح 14 – 20</a:t>
            </a:r>
            <a:endParaRPr lang="en-US" sz="950" dirty="0"/>
          </a:p>
        </p:txBody>
      </p:sp>
      <p:sp>
        <p:nvSpPr>
          <p:cNvPr id="41" name="Shape 34"/>
          <p:cNvSpPr/>
          <p:nvPr/>
        </p:nvSpPr>
        <p:spPr>
          <a:xfrm>
            <a:off x="9244584" y="3785616"/>
            <a:ext cx="2752344" cy="2212848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12700">
            <a:solidFill>
              <a:srgbClr val="EFE9F2"/>
            </a:solidFill>
            <a:prstDash val="solid"/>
          </a:ln>
          <a:effectLst>
            <a:outerShdw blurRad="889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42" name="Shape 35"/>
          <p:cNvSpPr/>
          <p:nvPr/>
        </p:nvSpPr>
        <p:spPr>
          <a:xfrm>
            <a:off x="11338560" y="3968496"/>
            <a:ext cx="420624" cy="420624"/>
          </a:xfrm>
          <a:prstGeom prst="ellipse">
            <a:avLst/>
          </a:prstGeom>
          <a:solidFill>
            <a:srgbClr val="FF4D6D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43" name="Text 36"/>
          <p:cNvSpPr/>
          <p:nvPr/>
        </p:nvSpPr>
        <p:spPr>
          <a:xfrm>
            <a:off x="11338560" y="39684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5</a:t>
            </a:r>
            <a:endParaRPr lang="en-US" sz="1600" dirty="0"/>
          </a:p>
        </p:txBody>
      </p:sp>
      <p:sp>
        <p:nvSpPr>
          <p:cNvPr id="44" name="Shape 37"/>
          <p:cNvSpPr/>
          <p:nvPr/>
        </p:nvSpPr>
        <p:spPr>
          <a:xfrm>
            <a:off x="9427464" y="3950208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pic>
        <p:nvPicPr>
          <p:cNvPr id="4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46336" y="4069080"/>
            <a:ext cx="219456" cy="219456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9381744" y="4498848"/>
            <a:ext cx="238658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الحماية والتحقق</a:t>
            </a:r>
            <a:endParaRPr lang="en-US" sz="1550" dirty="0"/>
          </a:p>
        </p:txBody>
      </p:sp>
      <p:sp>
        <p:nvSpPr>
          <p:cNvPr id="47" name="Text 39"/>
          <p:cNvSpPr/>
          <p:nvPr/>
        </p:nvSpPr>
        <p:spPr>
          <a:xfrm>
            <a:off x="9381744" y="4901184"/>
            <a:ext cx="23865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050" dirty="0">
                <a:solidFill>
                  <a:srgbClr val="8B84A3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Validation، Middleware، المصادقة Auth، والتفويض Policies</a:t>
            </a:r>
            <a:endParaRPr lang="en-US" sz="1050" dirty="0"/>
          </a:p>
        </p:txBody>
      </p:sp>
      <p:sp>
        <p:nvSpPr>
          <p:cNvPr id="48" name="Text 40"/>
          <p:cNvSpPr/>
          <p:nvPr/>
        </p:nvSpPr>
        <p:spPr>
          <a:xfrm>
            <a:off x="9381744" y="5669280"/>
            <a:ext cx="2386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E11D4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شرائح 21 – 24</a:t>
            </a:r>
            <a:endParaRPr lang="en-US" sz="950" dirty="0"/>
          </a:p>
        </p:txBody>
      </p:sp>
      <p:sp>
        <p:nvSpPr>
          <p:cNvPr id="49" name="Shape 41"/>
          <p:cNvSpPr/>
          <p:nvPr/>
        </p:nvSpPr>
        <p:spPr>
          <a:xfrm>
            <a:off x="6345936" y="3785616"/>
            <a:ext cx="2752344" cy="2212848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12700">
            <a:solidFill>
              <a:srgbClr val="EFE9F2"/>
            </a:solidFill>
            <a:prstDash val="solid"/>
          </a:ln>
          <a:effectLst>
            <a:outerShdw blurRad="889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50" name="Shape 42"/>
          <p:cNvSpPr/>
          <p:nvPr/>
        </p:nvSpPr>
        <p:spPr>
          <a:xfrm>
            <a:off x="8439912" y="3968496"/>
            <a:ext cx="420624" cy="420624"/>
          </a:xfrm>
          <a:prstGeom prst="ellipse">
            <a:avLst/>
          </a:prstGeom>
          <a:solidFill>
            <a:srgbClr val="FF4D6D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51" name="Text 43"/>
          <p:cNvSpPr/>
          <p:nvPr/>
        </p:nvSpPr>
        <p:spPr>
          <a:xfrm>
            <a:off x="8439912" y="39684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6</a:t>
            </a:r>
            <a:endParaRPr lang="en-US" sz="1600" dirty="0"/>
          </a:p>
        </p:txBody>
      </p:sp>
      <p:sp>
        <p:nvSpPr>
          <p:cNvPr id="52" name="Shape 44"/>
          <p:cNvSpPr/>
          <p:nvPr/>
        </p:nvSpPr>
        <p:spPr>
          <a:xfrm>
            <a:off x="6528816" y="3950208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pic>
        <p:nvPicPr>
          <p:cNvPr id="5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47688" y="4069080"/>
            <a:ext cx="219456" cy="219456"/>
          </a:xfrm>
          <a:prstGeom prst="rect">
            <a:avLst/>
          </a:prstGeom>
        </p:spPr>
      </p:pic>
      <p:sp>
        <p:nvSpPr>
          <p:cNvPr id="54" name="Text 45"/>
          <p:cNvSpPr/>
          <p:nvPr/>
        </p:nvSpPr>
        <p:spPr>
          <a:xfrm>
            <a:off x="6483096" y="4498848"/>
            <a:ext cx="238658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بناء الـ API</a:t>
            </a:r>
            <a:endParaRPr lang="en-US" sz="1550" dirty="0"/>
          </a:p>
        </p:txBody>
      </p:sp>
      <p:sp>
        <p:nvSpPr>
          <p:cNvPr id="55" name="Text 46"/>
          <p:cNvSpPr/>
          <p:nvPr/>
        </p:nvSpPr>
        <p:spPr>
          <a:xfrm>
            <a:off x="6483096" y="4901184"/>
            <a:ext cx="23865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050" dirty="0">
                <a:solidFill>
                  <a:srgbClr val="8B84A3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REST API، تنسيق الاستجابات، والحماية بـ Sanctum</a:t>
            </a:r>
            <a:endParaRPr lang="en-US" sz="1050" dirty="0"/>
          </a:p>
        </p:txBody>
      </p:sp>
      <p:sp>
        <p:nvSpPr>
          <p:cNvPr id="56" name="Text 47"/>
          <p:cNvSpPr/>
          <p:nvPr/>
        </p:nvSpPr>
        <p:spPr>
          <a:xfrm>
            <a:off x="6483096" y="5669280"/>
            <a:ext cx="2386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E11D4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شرائح 25 – 26</a:t>
            </a:r>
            <a:endParaRPr lang="en-US" sz="950" dirty="0"/>
          </a:p>
        </p:txBody>
      </p:sp>
      <p:sp>
        <p:nvSpPr>
          <p:cNvPr id="57" name="Shape 48"/>
          <p:cNvSpPr/>
          <p:nvPr/>
        </p:nvSpPr>
        <p:spPr>
          <a:xfrm>
            <a:off x="3447288" y="3785616"/>
            <a:ext cx="2752344" cy="2212848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12700">
            <a:solidFill>
              <a:srgbClr val="EFE9F2"/>
            </a:solidFill>
            <a:prstDash val="solid"/>
          </a:ln>
          <a:effectLst>
            <a:outerShdw blurRad="889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58" name="Shape 49"/>
          <p:cNvSpPr/>
          <p:nvPr/>
        </p:nvSpPr>
        <p:spPr>
          <a:xfrm>
            <a:off x="5541264" y="3968496"/>
            <a:ext cx="420624" cy="420624"/>
          </a:xfrm>
          <a:prstGeom prst="ellipse">
            <a:avLst/>
          </a:prstGeom>
          <a:solidFill>
            <a:srgbClr val="FF4D6D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59" name="Text 50"/>
          <p:cNvSpPr/>
          <p:nvPr/>
        </p:nvSpPr>
        <p:spPr>
          <a:xfrm>
            <a:off x="5541264" y="39684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7</a:t>
            </a:r>
            <a:endParaRPr lang="en-US" sz="1600" dirty="0"/>
          </a:p>
        </p:txBody>
      </p:sp>
      <p:sp>
        <p:nvSpPr>
          <p:cNvPr id="60" name="Shape 51"/>
          <p:cNvSpPr/>
          <p:nvPr/>
        </p:nvSpPr>
        <p:spPr>
          <a:xfrm>
            <a:off x="3630168" y="3950208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pic>
        <p:nvPicPr>
          <p:cNvPr id="6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49040" y="4069080"/>
            <a:ext cx="219456" cy="219456"/>
          </a:xfrm>
          <a:prstGeom prst="rect">
            <a:avLst/>
          </a:prstGeom>
        </p:spPr>
      </p:pic>
      <p:sp>
        <p:nvSpPr>
          <p:cNvPr id="62" name="Text 52"/>
          <p:cNvSpPr/>
          <p:nvPr/>
        </p:nvSpPr>
        <p:spPr>
          <a:xfrm>
            <a:off x="3584448" y="4498848"/>
            <a:ext cx="238658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خدمات الإطار</a:t>
            </a:r>
            <a:endParaRPr lang="en-US" sz="1550" dirty="0"/>
          </a:p>
        </p:txBody>
      </p:sp>
      <p:sp>
        <p:nvSpPr>
          <p:cNvPr id="63" name="Text 53"/>
          <p:cNvSpPr/>
          <p:nvPr/>
        </p:nvSpPr>
        <p:spPr>
          <a:xfrm>
            <a:off x="3584448" y="4901184"/>
            <a:ext cx="23865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050" dirty="0">
                <a:solidFill>
                  <a:srgbClr val="8B84A3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الملفات، البريد، الطوابير، الأحداث، الكاش، والتعريب</a:t>
            </a:r>
            <a:endParaRPr lang="en-US" sz="1050" dirty="0"/>
          </a:p>
        </p:txBody>
      </p:sp>
      <p:sp>
        <p:nvSpPr>
          <p:cNvPr id="64" name="Text 54"/>
          <p:cNvSpPr/>
          <p:nvPr/>
        </p:nvSpPr>
        <p:spPr>
          <a:xfrm>
            <a:off x="3584448" y="5669280"/>
            <a:ext cx="2386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E11D4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شرائح 27 – 32</a:t>
            </a:r>
            <a:endParaRPr lang="en-US" sz="950" dirty="0"/>
          </a:p>
        </p:txBody>
      </p:sp>
      <p:sp>
        <p:nvSpPr>
          <p:cNvPr id="65" name="Shape 55"/>
          <p:cNvSpPr/>
          <p:nvPr/>
        </p:nvSpPr>
        <p:spPr>
          <a:xfrm>
            <a:off x="548640" y="3785616"/>
            <a:ext cx="2752344" cy="2212848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12700">
            <a:solidFill>
              <a:srgbClr val="EFE9F2"/>
            </a:solidFill>
            <a:prstDash val="solid"/>
          </a:ln>
          <a:effectLst>
            <a:outerShdw blurRad="889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66" name="Shape 56"/>
          <p:cNvSpPr/>
          <p:nvPr/>
        </p:nvSpPr>
        <p:spPr>
          <a:xfrm>
            <a:off x="2642616" y="3968496"/>
            <a:ext cx="420624" cy="420624"/>
          </a:xfrm>
          <a:prstGeom prst="ellipse">
            <a:avLst/>
          </a:prstGeom>
          <a:solidFill>
            <a:srgbClr val="FF4D6D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67" name="Text 57"/>
          <p:cNvSpPr/>
          <p:nvPr/>
        </p:nvSpPr>
        <p:spPr>
          <a:xfrm>
            <a:off x="2642616" y="39684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8</a:t>
            </a:r>
            <a:endParaRPr lang="en-US" sz="1600" dirty="0"/>
          </a:p>
        </p:txBody>
      </p:sp>
      <p:sp>
        <p:nvSpPr>
          <p:cNvPr id="68" name="Shape 58"/>
          <p:cNvSpPr/>
          <p:nvPr/>
        </p:nvSpPr>
        <p:spPr>
          <a:xfrm>
            <a:off x="731520" y="3950208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pic>
        <p:nvPicPr>
          <p:cNvPr id="69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0392" y="4069080"/>
            <a:ext cx="219456" cy="219456"/>
          </a:xfrm>
          <a:prstGeom prst="rect">
            <a:avLst/>
          </a:prstGeom>
        </p:spPr>
      </p:pic>
      <p:sp>
        <p:nvSpPr>
          <p:cNvPr id="70" name="Text 59"/>
          <p:cNvSpPr/>
          <p:nvPr/>
        </p:nvSpPr>
        <p:spPr>
          <a:xfrm>
            <a:off x="685800" y="4498848"/>
            <a:ext cx="238658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الجودة والإطلاق</a:t>
            </a:r>
            <a:endParaRPr lang="en-US" sz="1550" dirty="0"/>
          </a:p>
        </p:txBody>
      </p:sp>
      <p:sp>
        <p:nvSpPr>
          <p:cNvPr id="71" name="Text 60"/>
          <p:cNvSpPr/>
          <p:nvPr/>
        </p:nvSpPr>
        <p:spPr>
          <a:xfrm>
            <a:off x="685800" y="4901184"/>
            <a:ext cx="23865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050" dirty="0">
                <a:solidFill>
                  <a:srgbClr val="8B84A3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الاختبارات مع Pest، الأداء، النشر، وأفضل الممارسات</a:t>
            </a:r>
            <a:endParaRPr lang="en-US" sz="1050" dirty="0"/>
          </a:p>
        </p:txBody>
      </p:sp>
      <p:sp>
        <p:nvSpPr>
          <p:cNvPr id="72" name="Text 61"/>
          <p:cNvSpPr/>
          <p:nvPr/>
        </p:nvSpPr>
        <p:spPr>
          <a:xfrm>
            <a:off x="685800" y="5669280"/>
            <a:ext cx="2386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E11D4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شرائح 33 – 35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3696222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01852" cy="310896"/>
          </a:xfrm>
          <a:prstGeom prst="roundRect">
            <a:avLst>
              <a:gd name="adj" fmla="val 50000"/>
            </a:avLst>
          </a:prstGeom>
          <a:solidFill>
            <a:srgbClr val="FFE4EA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18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11D4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الأساسيات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1155680" y="384048"/>
            <a:ext cx="493776" cy="4937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4062" y="512430"/>
            <a:ext cx="237012" cy="2370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834640" y="310896"/>
            <a:ext cx="8183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70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ما هو Laravel ولماذا نعتمده؟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/ 35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784080" y="647395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8B84A3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دليل Laravel التقني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0" y="1325880"/>
            <a:ext cx="706831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5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إطار عمل PHP مفتوح المصدر أطلقه </a:t>
            </a:r>
            <a:r>
              <a:rPr lang="en-US" sz="15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Taylor Otwell</a:t>
            </a:r>
            <a:r>
              <a:rPr lang="en-US" sz="15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عام 2011، يتبع نمط </a:t>
            </a:r>
            <a:r>
              <a:rPr lang="en-US" sz="15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MVC</a:t>
            </a:r>
            <a:r>
              <a:rPr lang="en-US" sz="15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، وصُمم ليجعل المهام الشائعة — التوجيه، قواعد البيانات، المصادقة، الطوابير — أنيقة وسريعة الإنجاز.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4572000" y="2468880"/>
            <a:ext cx="7068312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 algn="r" rtl="1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صياغة تعبيرية</a:t>
            </a:r>
            <a:r>
              <a:rPr lang="en-US" sz="14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تقرأ كالجُمل: </a:t>
            </a:r>
            <a:r>
              <a:rPr lang="en-US" sz="13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Post::latest()-&gt;paginate()</a:t>
            </a:r>
            <a:r>
              <a:rPr lang="en-US" sz="14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— كود أقل وصيانة أسهل.</a:t>
            </a:r>
            <a:endParaRPr lang="en-US" sz="1450" dirty="0"/>
          </a:p>
          <a:p>
            <a:pPr marL="165100" indent="-165100" algn="r" rtl="1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بطاريات مضمّنة</a:t>
            </a:r>
            <a:r>
              <a:rPr lang="en-US" sz="14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: Eloquent ORM، محرك Blade، طوابير، كاش، جدولة مهام، واختبارات.</a:t>
            </a:r>
            <a:endParaRPr lang="en-US" sz="1450" dirty="0"/>
          </a:p>
          <a:p>
            <a:pPr marL="165100" indent="-165100" algn="r" rtl="1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نظام بيئي متكامل</a:t>
            </a:r>
            <a:r>
              <a:rPr lang="en-US" sz="14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: Cloud و Forge للنشر، Horizon للطوابير، Nova للوحات الإدارة، Nightwatch للمراقبة.</a:t>
            </a:r>
            <a:endParaRPr lang="en-US" sz="1450" dirty="0"/>
          </a:p>
          <a:p>
            <a:pPr marL="165100" indent="-165100" algn="r" rtl="1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مجتمع ضخم</a:t>
            </a:r>
            <a:r>
              <a:rPr lang="en-US" sz="14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وتوثيق يُعد من الأفضل في عالم الويب، مع آلاف الحزم الجاهزة عبر Composer.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48640" y="1371600"/>
            <a:ext cx="3657600" cy="1389888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2700">
            <a:solidFill>
              <a:srgbClr val="EFE9F2"/>
            </a:solidFill>
            <a:prstDash val="solid"/>
          </a:ln>
          <a:effectLst>
            <a:outerShdw blurRad="889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12" name="Text 9"/>
          <p:cNvSpPr/>
          <p:nvPr/>
        </p:nvSpPr>
        <p:spPr>
          <a:xfrm>
            <a:off x="731520" y="149047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4D6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13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731520" y="221284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250" dirty="0">
                <a:solidFill>
                  <a:srgbClr val="8B84A3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الإصدار الحالي — مارس 2026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2944368"/>
            <a:ext cx="3657600" cy="1389888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2700">
            <a:solidFill>
              <a:srgbClr val="EFE9F2"/>
            </a:solidFill>
            <a:prstDash val="solid"/>
          </a:ln>
          <a:effectLst>
            <a:outerShdw blurRad="889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15" name="Text 12"/>
          <p:cNvSpPr/>
          <p:nvPr/>
        </p:nvSpPr>
        <p:spPr>
          <a:xfrm>
            <a:off x="731520" y="30632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4D6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+80K</a:t>
            </a:r>
            <a:endParaRPr lang="en-US" sz="3800" dirty="0"/>
          </a:p>
        </p:txBody>
      </p:sp>
      <p:sp>
        <p:nvSpPr>
          <p:cNvPr id="16" name="Text 13"/>
          <p:cNvSpPr/>
          <p:nvPr/>
        </p:nvSpPr>
        <p:spPr>
          <a:xfrm>
            <a:off x="731520" y="3785616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250" dirty="0">
                <a:solidFill>
                  <a:srgbClr val="8B84A3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نجمة على GitHub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48640" y="4517136"/>
            <a:ext cx="3657600" cy="1389888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2700">
            <a:solidFill>
              <a:srgbClr val="EFE9F2"/>
            </a:solidFill>
            <a:prstDash val="solid"/>
          </a:ln>
          <a:effectLst>
            <a:outerShdw blurRad="889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18" name="Text 15"/>
          <p:cNvSpPr/>
          <p:nvPr/>
        </p:nvSpPr>
        <p:spPr>
          <a:xfrm>
            <a:off x="731520" y="463600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4D6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8.3+</a:t>
            </a:r>
            <a:endParaRPr lang="en-US" sz="3800" dirty="0"/>
          </a:p>
        </p:txBody>
      </p:sp>
      <p:sp>
        <p:nvSpPr>
          <p:cNvPr id="19" name="Text 16"/>
          <p:cNvSpPr/>
          <p:nvPr/>
        </p:nvSpPr>
        <p:spPr>
          <a:xfrm>
            <a:off x="731520" y="5358384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250" dirty="0">
                <a:solidFill>
                  <a:srgbClr val="8B84A3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الحد الأدنى من PHP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712462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01852" cy="310896"/>
          </a:xfrm>
          <a:prstGeom prst="roundRect">
            <a:avLst>
              <a:gd name="adj" fmla="val 50000"/>
            </a:avLst>
          </a:prstGeom>
          <a:solidFill>
            <a:srgbClr val="FFE4EA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18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11D4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الأساسيات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1155680" y="384048"/>
            <a:ext cx="493776" cy="4937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4062" y="512430"/>
            <a:ext cx="237012" cy="2370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834640" y="310896"/>
            <a:ext cx="8183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70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بنية MVC ودورة حياة الطلب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/ 35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784080" y="647395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8B84A3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دليل Laravel التقني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8640" y="128016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4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كل طلب HTTP يدخل من نقطة واحدة </a:t>
            </a:r>
            <a:r>
              <a:rPr lang="en-US" sz="13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public/index.php</a:t>
            </a:r>
            <a:r>
              <a:rPr lang="en-US" sz="14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ثم يمر بالمراحل التالية قبل أن تعود الاستجابة للمتصفح: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9948672" y="2057400"/>
            <a:ext cx="1691640" cy="777240"/>
          </a:xfrm>
          <a:prstGeom prst="roundRect">
            <a:avLst>
              <a:gd name="adj" fmla="val 10588"/>
            </a:avLst>
          </a:prstGeom>
          <a:solidFill>
            <a:srgbClr val="FFE4EA"/>
          </a:solidFill>
          <a:ln w="15875">
            <a:solidFill>
              <a:srgbClr val="6E2E24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11" name="Text 8"/>
          <p:cNvSpPr/>
          <p:nvPr/>
        </p:nvSpPr>
        <p:spPr>
          <a:xfrm>
            <a:off x="9948672" y="205740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350" b="1" dirty="0">
                <a:solidFill>
                  <a:srgbClr val="E11D4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الطلب HTTP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 flipH="1">
            <a:off x="9729216" y="2446020"/>
            <a:ext cx="182880" cy="0"/>
          </a:xfrm>
          <a:prstGeom prst="line">
            <a:avLst/>
          </a:prstGeom>
          <a:noFill/>
          <a:ln w="28575">
            <a:solidFill>
              <a:srgbClr val="FF4D6D"/>
            </a:solidFill>
            <a:prstDash val="solid"/>
            <a:tailEnd type="triangle"/>
          </a:ln>
        </p:spPr>
        <p:txBody>
          <a:bodyPr/>
          <a:lstStyle/>
          <a:p>
            <a:endParaRPr lang="en-OM"/>
          </a:p>
        </p:txBody>
      </p:sp>
      <p:sp>
        <p:nvSpPr>
          <p:cNvPr id="13" name="Shape 10"/>
          <p:cNvSpPr/>
          <p:nvPr/>
        </p:nvSpPr>
        <p:spPr>
          <a:xfrm>
            <a:off x="8001000" y="2057400"/>
            <a:ext cx="169164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5875">
            <a:solidFill>
              <a:srgbClr val="EFE9F2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14" name="Text 11"/>
          <p:cNvSpPr/>
          <p:nvPr/>
        </p:nvSpPr>
        <p:spPr>
          <a:xfrm>
            <a:off x="8001000" y="205740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3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Middleware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 flipH="1">
            <a:off x="7781544" y="2446020"/>
            <a:ext cx="182880" cy="0"/>
          </a:xfrm>
          <a:prstGeom prst="line">
            <a:avLst/>
          </a:prstGeom>
          <a:noFill/>
          <a:ln w="28575">
            <a:solidFill>
              <a:srgbClr val="FF4D6D"/>
            </a:solidFill>
            <a:prstDash val="solid"/>
            <a:tailEnd type="triangle"/>
          </a:ln>
        </p:spPr>
        <p:txBody>
          <a:bodyPr/>
          <a:lstStyle/>
          <a:p>
            <a:endParaRPr lang="en-OM"/>
          </a:p>
        </p:txBody>
      </p:sp>
      <p:sp>
        <p:nvSpPr>
          <p:cNvPr id="16" name="Shape 13"/>
          <p:cNvSpPr/>
          <p:nvPr/>
        </p:nvSpPr>
        <p:spPr>
          <a:xfrm>
            <a:off x="6053328" y="2057400"/>
            <a:ext cx="169164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5875">
            <a:solidFill>
              <a:srgbClr val="EFE9F2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17" name="Text 14"/>
          <p:cNvSpPr/>
          <p:nvPr/>
        </p:nvSpPr>
        <p:spPr>
          <a:xfrm>
            <a:off x="6053328" y="205740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3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Router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 flipH="1">
            <a:off x="5833872" y="2446020"/>
            <a:ext cx="182880" cy="0"/>
          </a:xfrm>
          <a:prstGeom prst="line">
            <a:avLst/>
          </a:prstGeom>
          <a:noFill/>
          <a:ln w="28575">
            <a:solidFill>
              <a:srgbClr val="FF4D6D"/>
            </a:solidFill>
            <a:prstDash val="solid"/>
            <a:tailEnd type="triangle"/>
          </a:ln>
        </p:spPr>
        <p:txBody>
          <a:bodyPr/>
          <a:lstStyle/>
          <a:p>
            <a:endParaRPr lang="en-OM"/>
          </a:p>
        </p:txBody>
      </p:sp>
      <p:sp>
        <p:nvSpPr>
          <p:cNvPr id="19" name="Shape 16"/>
          <p:cNvSpPr/>
          <p:nvPr/>
        </p:nvSpPr>
        <p:spPr>
          <a:xfrm>
            <a:off x="4105656" y="2057400"/>
            <a:ext cx="169164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5875">
            <a:solidFill>
              <a:srgbClr val="EFE9F2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20" name="Text 17"/>
          <p:cNvSpPr/>
          <p:nvPr/>
        </p:nvSpPr>
        <p:spPr>
          <a:xfrm>
            <a:off x="4105656" y="205740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3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Controller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 flipH="1">
            <a:off x="3886200" y="2446020"/>
            <a:ext cx="182880" cy="0"/>
          </a:xfrm>
          <a:prstGeom prst="line">
            <a:avLst/>
          </a:prstGeom>
          <a:noFill/>
          <a:ln w="28575">
            <a:solidFill>
              <a:srgbClr val="FF4D6D"/>
            </a:solidFill>
            <a:prstDash val="solid"/>
            <a:tailEnd type="triangle"/>
          </a:ln>
        </p:spPr>
        <p:txBody>
          <a:bodyPr/>
          <a:lstStyle/>
          <a:p>
            <a:endParaRPr lang="en-OM"/>
          </a:p>
        </p:txBody>
      </p:sp>
      <p:sp>
        <p:nvSpPr>
          <p:cNvPr id="22" name="Shape 19"/>
          <p:cNvSpPr/>
          <p:nvPr/>
        </p:nvSpPr>
        <p:spPr>
          <a:xfrm>
            <a:off x="2157984" y="2057400"/>
            <a:ext cx="169164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5875">
            <a:solidFill>
              <a:srgbClr val="EFE9F2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23" name="Text 20"/>
          <p:cNvSpPr/>
          <p:nvPr/>
        </p:nvSpPr>
        <p:spPr>
          <a:xfrm>
            <a:off x="2157984" y="205740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3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Model + DB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 flipH="1">
            <a:off x="1938528" y="2446020"/>
            <a:ext cx="182880" cy="0"/>
          </a:xfrm>
          <a:prstGeom prst="line">
            <a:avLst/>
          </a:prstGeom>
          <a:noFill/>
          <a:ln w="28575">
            <a:solidFill>
              <a:srgbClr val="FF4D6D"/>
            </a:solidFill>
            <a:prstDash val="solid"/>
            <a:tailEnd type="triangle"/>
          </a:ln>
        </p:spPr>
        <p:txBody>
          <a:bodyPr/>
          <a:lstStyle/>
          <a:p>
            <a:endParaRPr lang="en-OM"/>
          </a:p>
        </p:txBody>
      </p:sp>
      <p:sp>
        <p:nvSpPr>
          <p:cNvPr id="25" name="Shape 22"/>
          <p:cNvSpPr/>
          <p:nvPr/>
        </p:nvSpPr>
        <p:spPr>
          <a:xfrm>
            <a:off x="210312" y="2057400"/>
            <a:ext cx="1691640" cy="777240"/>
          </a:xfrm>
          <a:prstGeom prst="roundRect">
            <a:avLst>
              <a:gd name="adj" fmla="val 10588"/>
            </a:avLst>
          </a:prstGeom>
          <a:solidFill>
            <a:srgbClr val="FFE4EA"/>
          </a:solidFill>
          <a:ln w="15875">
            <a:solidFill>
              <a:srgbClr val="6E2E24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26" name="Text 23"/>
          <p:cNvSpPr/>
          <p:nvPr/>
        </p:nvSpPr>
        <p:spPr>
          <a:xfrm>
            <a:off x="210312" y="205740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350" b="1" dirty="0">
                <a:solidFill>
                  <a:srgbClr val="E11D4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View / JSON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8074152" y="3429000"/>
            <a:ext cx="356616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FE9F2"/>
            </a:solidFill>
            <a:prstDash val="solid"/>
          </a:ln>
          <a:effectLst>
            <a:outerShdw blurRad="889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28" name="Text 25"/>
          <p:cNvSpPr/>
          <p:nvPr/>
        </p:nvSpPr>
        <p:spPr>
          <a:xfrm>
            <a:off x="8302752" y="3611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FF4D6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Model</a:t>
            </a:r>
            <a:endParaRPr lang="en-US" sz="2100" dirty="0"/>
          </a:p>
        </p:txBody>
      </p:sp>
      <p:sp>
        <p:nvSpPr>
          <p:cNvPr id="29" name="Text 26"/>
          <p:cNvSpPr/>
          <p:nvPr/>
        </p:nvSpPr>
        <p:spPr>
          <a:xfrm>
            <a:off x="8302752" y="416052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30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طبقة البيانات ومنطق العمل — نماذج Eloquent التي تتعامل مع الجداول وتغلف الاستعلامات والعلاقات.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315968" y="3429000"/>
            <a:ext cx="356616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FE9F2"/>
            </a:solidFill>
            <a:prstDash val="solid"/>
          </a:ln>
          <a:effectLst>
            <a:outerShdw blurRad="889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31" name="Text 28"/>
          <p:cNvSpPr/>
          <p:nvPr/>
        </p:nvSpPr>
        <p:spPr>
          <a:xfrm>
            <a:off x="4544568" y="3611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FF4D6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View</a:t>
            </a:r>
            <a:endParaRPr lang="en-US" sz="2100" dirty="0"/>
          </a:p>
        </p:txBody>
      </p:sp>
      <p:sp>
        <p:nvSpPr>
          <p:cNvPr id="32" name="Text 29"/>
          <p:cNvSpPr/>
          <p:nvPr/>
        </p:nvSpPr>
        <p:spPr>
          <a:xfrm>
            <a:off x="4544568" y="416052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30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طبقة العرض — قوالب Blade التي تحول البيانات إلى HTML، دون أي منطق أعمال بداخلها.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557784" y="3429000"/>
            <a:ext cx="356616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FE9F2"/>
            </a:solidFill>
            <a:prstDash val="solid"/>
          </a:ln>
          <a:effectLst>
            <a:outerShdw blurRad="889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34" name="Text 31"/>
          <p:cNvSpPr/>
          <p:nvPr/>
        </p:nvSpPr>
        <p:spPr>
          <a:xfrm>
            <a:off x="786384" y="3611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FF4D6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Controller</a:t>
            </a:r>
            <a:endParaRPr lang="en-US" sz="2100" dirty="0"/>
          </a:p>
        </p:txBody>
      </p:sp>
      <p:sp>
        <p:nvSpPr>
          <p:cNvPr id="35" name="Text 32"/>
          <p:cNvSpPr/>
          <p:nvPr/>
        </p:nvSpPr>
        <p:spPr>
          <a:xfrm>
            <a:off x="786384" y="416052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30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المنسق — يستقبل الطلب من الـ Router، يستدعي النماذج، ثم يعيد View أو استجابة JSON.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9992534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01852" cy="310896"/>
          </a:xfrm>
          <a:prstGeom prst="roundRect">
            <a:avLst>
              <a:gd name="adj" fmla="val 50000"/>
            </a:avLst>
          </a:prstGeom>
          <a:solidFill>
            <a:srgbClr val="FFE4EA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18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11D4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الأساسيات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1155680" y="384048"/>
            <a:ext cx="493776" cy="4937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4062" y="512430"/>
            <a:ext cx="237012" cy="2370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834640" y="310896"/>
            <a:ext cx="8183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70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تجهيز البيئة والتثبيت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/ 35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784080" y="647395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8B84A3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دليل Laravel التقني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035040" y="1325880"/>
            <a:ext cx="56052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المتطلبات الأساسية: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035040" y="1783080"/>
            <a:ext cx="5605272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 algn="r" rtl="1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PHP بإصدار </a:t>
            </a:r>
            <a:r>
              <a:rPr lang="en-US" sz="13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8.3 أو أحدث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مع إضافات mbstring و openssl و pdo.</a:t>
            </a:r>
            <a:endParaRPr lang="en-US" sz="1350" dirty="0"/>
          </a:p>
          <a:p>
            <a:pPr marL="165100" indent="-165100" algn="r" rtl="1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Composer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— مدير حزم PHP وقلب أي مشروع Laravel.</a:t>
            </a:r>
            <a:endParaRPr lang="en-US" sz="1350" dirty="0"/>
          </a:p>
          <a:p>
            <a:pPr marL="165100" indent="-165100" algn="r" rtl="1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Node.js + npm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لبناء أصول الواجهة عبر Vite.</a:t>
            </a:r>
            <a:endParaRPr lang="en-US" sz="1350" dirty="0"/>
          </a:p>
          <a:p>
            <a:pPr marL="165100" indent="-165100" algn="r" rtl="1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قاعدة بيانات: MySQL أو PostgreSQL أو SQLite (الافتراضية للتجارب).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035040" y="4069080"/>
            <a:ext cx="560527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3A3F52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4824" y="4215384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217920" y="4151376"/>
            <a:ext cx="482803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C53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تلميح:  </a:t>
            </a:r>
            <a:r>
              <a:rPr lang="en-US" sz="12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أسرع طريق للمبتدئ: </a:t>
            </a:r>
            <a:r>
              <a:rPr lang="en-US" sz="12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Laravel Herd</a:t>
            </a:r>
            <a:r>
              <a:rPr lang="en-US" sz="12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بيئة جاهزة لويندوز وماك تتضمن PHP و Composer، أو </a:t>
            </a:r>
            <a:r>
              <a:rPr lang="en-US" sz="11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Laravel Sail</a:t>
            </a:r>
            <a:r>
              <a:rPr lang="en-US" sz="12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لمن يفضل Docker.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1325880"/>
            <a:ext cx="5212080" cy="4114800"/>
          </a:xfrm>
          <a:prstGeom prst="roundRect">
            <a:avLst>
              <a:gd name="adj" fmla="val 2000"/>
            </a:avLst>
          </a:prstGeom>
          <a:solidFill>
            <a:srgbClr val="0A0E16"/>
          </a:solidFill>
          <a:ln w="12700">
            <a:solidFill>
              <a:srgbClr val="EFE9F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15" name="Shape 11"/>
          <p:cNvSpPr/>
          <p:nvPr/>
        </p:nvSpPr>
        <p:spPr>
          <a:xfrm>
            <a:off x="749808" y="1472184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6" name="Shape 12"/>
          <p:cNvSpPr/>
          <p:nvPr/>
        </p:nvSpPr>
        <p:spPr>
          <a:xfrm>
            <a:off x="905256" y="1472184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7" name="Shape 13"/>
          <p:cNvSpPr/>
          <p:nvPr/>
        </p:nvSpPr>
        <p:spPr>
          <a:xfrm>
            <a:off x="1060704" y="1472184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8" name="Text 14"/>
          <p:cNvSpPr/>
          <p:nvPr/>
        </p:nvSpPr>
        <p:spPr>
          <a:xfrm>
            <a:off x="1325880" y="1371600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749808" y="1709928"/>
            <a:ext cx="4809744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composer global require laravel/installer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laravel new shop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shop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artisan serve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i="1" dirty="0">
                <a:solidFill>
                  <a:srgbClr val="7FB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http://localhost:8000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1084192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01852" cy="310896"/>
          </a:xfrm>
          <a:prstGeom prst="roundRect">
            <a:avLst>
              <a:gd name="adj" fmla="val 50000"/>
            </a:avLst>
          </a:prstGeom>
          <a:solidFill>
            <a:srgbClr val="FFE4EA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18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11D4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الأساسيات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1155680" y="384048"/>
            <a:ext cx="493776" cy="4937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4062" y="512430"/>
            <a:ext cx="237012" cy="2370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834640" y="310896"/>
            <a:ext cx="8183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70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هيكل المشروع: أين يعيش كل شيء؟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/ 35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784080" y="647395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8B84A3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دليل Laravel التقني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4572000" cy="4892040"/>
          </a:xfrm>
          <a:prstGeom prst="roundRect">
            <a:avLst>
              <a:gd name="adj" fmla="val 1800"/>
            </a:avLst>
          </a:prstGeom>
          <a:solidFill>
            <a:srgbClr val="0A0E16"/>
          </a:solidFill>
          <a:ln w="12700">
            <a:solidFill>
              <a:srgbClr val="EFE9F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10" name="Shape 7"/>
          <p:cNvSpPr/>
          <p:nvPr/>
        </p:nvSpPr>
        <p:spPr>
          <a:xfrm>
            <a:off x="749808" y="1472184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1" name="Shape 8"/>
          <p:cNvSpPr/>
          <p:nvPr/>
        </p:nvSpPr>
        <p:spPr>
          <a:xfrm>
            <a:off x="905256" y="1472184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2" name="Shape 9"/>
          <p:cNvSpPr/>
          <p:nvPr/>
        </p:nvSpPr>
        <p:spPr>
          <a:xfrm>
            <a:off x="1060704" y="1472184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3" name="Text 10"/>
          <p:cNvSpPr/>
          <p:nvPr/>
        </p:nvSpPr>
        <p:spPr>
          <a:xfrm>
            <a:off x="1325880" y="137160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shop/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49808" y="1709928"/>
            <a:ext cx="4169664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Http/Controllers/   # المتحكمات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Models/             # نماذج Eloquent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Providers/          # مزودو الخدمات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bootstrap/app.php       # تهيئة التطبيق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config/                 # ملفات الإعدادات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database/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migrations/  ├── seeders/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factories/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public/index.php        # نقطة الدخول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resources/views/        # قوالب Blade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routes/web.php          # المسارات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storage/                # ملفات وسجلات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                  # الاختبارات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                    # إعدادات البيئة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394960" y="1417320"/>
            <a:ext cx="6245352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</a:t>
            </a:r>
            <a:r>
              <a:rPr lang="en-US" sz="140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نواة تطبيقك: هنا تكتب المتحكمات والنماذج ومنطق العمل — معظم وقتك سيمضي هنا.</a:t>
            </a:r>
            <a:endParaRPr lang="en-US" sz="1400" dirty="0"/>
          </a:p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routes/</a:t>
            </a:r>
            <a:r>
              <a:rPr lang="en-US" sz="140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تعريف كل المسارات: </a:t>
            </a:r>
            <a:r>
              <a:rPr lang="en-US" sz="130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web.php</a:t>
            </a:r>
            <a:r>
              <a:rPr lang="en-US" sz="140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لصفحات الويب و </a:t>
            </a:r>
            <a:r>
              <a:rPr lang="en-US" sz="130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api.php</a:t>
            </a:r>
            <a:r>
              <a:rPr lang="en-US" sz="140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لواجهات البرمجة.</a:t>
            </a:r>
            <a:endParaRPr lang="en-US" sz="1400" dirty="0"/>
          </a:p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resources/views/</a:t>
            </a:r>
            <a:r>
              <a:rPr lang="en-US" sz="140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قوالب Blade، وبجانبها ملفات CSS و JavaScript قبل بنائها بـ Vite.</a:t>
            </a:r>
            <a:endParaRPr lang="en-US" sz="1400" dirty="0"/>
          </a:p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database/</a:t>
            </a:r>
            <a:r>
              <a:rPr lang="en-US" sz="140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كل ما يخص البيانات: </a:t>
            </a:r>
            <a:r>
              <a:rPr lang="ar-OM" sz="140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ملفات قواعد البيانات</a:t>
            </a:r>
            <a:r>
              <a:rPr lang="en-US" sz="140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</a:t>
            </a:r>
            <a:r>
              <a:rPr lang="en-US" sz="1400" dirty="0" err="1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وال</a:t>
            </a:r>
            <a:r>
              <a:rPr lang="ar-OM" sz="140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بيانات المبدئية</a:t>
            </a:r>
            <a:r>
              <a:rPr lang="en-US" sz="140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</a:t>
            </a:r>
            <a:r>
              <a:rPr lang="en-US" sz="1400" dirty="0" err="1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و</a:t>
            </a:r>
            <a:r>
              <a:rPr lang="ar-OM" sz="140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مولد البيانات</a:t>
            </a:r>
            <a:r>
              <a:rPr lang="en-US" sz="140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في مكان واحد.</a:t>
            </a:r>
            <a:endParaRPr lang="en-US" sz="1400" dirty="0"/>
          </a:p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public/</a:t>
            </a:r>
            <a:r>
              <a:rPr lang="en-US" sz="140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المجلد الوحيد المكشوف للويب — كل الطلبات تدخل عبر </a:t>
            </a:r>
            <a:r>
              <a:rPr lang="en-US" sz="130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index.php</a:t>
            </a:r>
            <a:r>
              <a:rPr lang="en-US" sz="140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.</a:t>
            </a:r>
            <a:endParaRPr lang="en-US" sz="1400" dirty="0"/>
          </a:p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config/</a:t>
            </a:r>
            <a:r>
              <a:rPr lang="en-US" sz="140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إعدادات منظمة بملفات، تقرأ قيمها من </a:t>
            </a:r>
            <a:r>
              <a:rPr lang="en-US" sz="130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r>
              <a:rPr lang="en-US" sz="140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حسب البيئة.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068005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01852" cy="310896"/>
          </a:xfrm>
          <a:prstGeom prst="roundRect">
            <a:avLst>
              <a:gd name="adj" fmla="val 50000"/>
            </a:avLst>
          </a:prstGeom>
          <a:solidFill>
            <a:srgbClr val="FFE4EA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18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11D4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الأساسيات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1155680" y="384048"/>
            <a:ext cx="493776" cy="4937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4062" y="512430"/>
            <a:ext cx="237012" cy="2370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834640" y="310896"/>
            <a:ext cx="8183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70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الإعدادات وملف البيئة .env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35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784080" y="647395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8B84A3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دليل Laravel التقني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4892040" cy="3291840"/>
          </a:xfrm>
          <a:prstGeom prst="roundRect">
            <a:avLst>
              <a:gd name="adj" fmla="val 2500"/>
            </a:avLst>
          </a:prstGeom>
          <a:solidFill>
            <a:srgbClr val="0A0E16"/>
          </a:solidFill>
          <a:ln w="12700">
            <a:solidFill>
              <a:srgbClr val="EFE9F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10" name="Shape 7"/>
          <p:cNvSpPr/>
          <p:nvPr/>
        </p:nvSpPr>
        <p:spPr>
          <a:xfrm>
            <a:off x="749808" y="1472184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1" name="Shape 8"/>
          <p:cNvSpPr/>
          <p:nvPr/>
        </p:nvSpPr>
        <p:spPr>
          <a:xfrm>
            <a:off x="905256" y="1472184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2" name="Shape 9"/>
          <p:cNvSpPr/>
          <p:nvPr/>
        </p:nvSpPr>
        <p:spPr>
          <a:xfrm>
            <a:off x="1060704" y="1472184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3" name="Text 10"/>
          <p:cNvSpPr/>
          <p:nvPr/>
        </p:nvSpPr>
        <p:spPr>
          <a:xfrm>
            <a:off x="1325880" y="13716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49808" y="1709928"/>
            <a:ext cx="4489704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APP_NAME=Shop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APP_ENV=local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APP_DEBUG=true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APP_URL=http://localhost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DB_CONNECTION=mysql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DB_DATABASE=shop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DB_USERNAME=root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DB_PASSWORD=secret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48640" y="4800600"/>
            <a:ext cx="4892040" cy="1417320"/>
          </a:xfrm>
          <a:prstGeom prst="roundRect">
            <a:avLst>
              <a:gd name="adj" fmla="val 5806"/>
            </a:avLst>
          </a:prstGeom>
          <a:solidFill>
            <a:srgbClr val="0A0E16"/>
          </a:solidFill>
          <a:ln w="12700">
            <a:solidFill>
              <a:srgbClr val="EFE9F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16" name="Shape 13"/>
          <p:cNvSpPr/>
          <p:nvPr/>
        </p:nvSpPr>
        <p:spPr>
          <a:xfrm>
            <a:off x="749808" y="4946904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7" name="Shape 14"/>
          <p:cNvSpPr/>
          <p:nvPr/>
        </p:nvSpPr>
        <p:spPr>
          <a:xfrm>
            <a:off x="905256" y="4946904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8" name="Shape 15"/>
          <p:cNvSpPr/>
          <p:nvPr/>
        </p:nvSpPr>
        <p:spPr>
          <a:xfrm>
            <a:off x="1060704" y="4946904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9" name="Text 16"/>
          <p:cNvSpPr/>
          <p:nvPr/>
        </p:nvSpPr>
        <p:spPr>
          <a:xfrm>
            <a:off x="1325880" y="48463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في أي مكان بالكود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49808" y="5184648"/>
            <a:ext cx="44897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config('app.name');       // "Shop"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config('database.default');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5715000" y="1417320"/>
            <a:ext cx="5925312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لكل بيئة (تطوير، اختبار، إنتاج) ملف </a:t>
            </a:r>
            <a:r>
              <a:rPr lang="en-US" sz="130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r>
              <a:rPr lang="en-US" sz="140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خاص بها — </a:t>
            </a:r>
            <a:r>
              <a:rPr lang="en-US" sz="140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ولا يُرفع أبداً إلى Git</a:t>
            </a:r>
            <a:r>
              <a:rPr lang="en-US" sz="140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.</a:t>
            </a:r>
            <a:endParaRPr lang="en-US" sz="1400" dirty="0"/>
          </a:p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دالة </a:t>
            </a:r>
            <a:r>
              <a:rPr lang="en-US" sz="130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env()</a:t>
            </a:r>
            <a:r>
              <a:rPr lang="en-US" sz="140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تُستخدم </a:t>
            </a:r>
            <a:r>
              <a:rPr lang="en-US" sz="140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داخل ملفات config فقط</a:t>
            </a:r>
            <a:r>
              <a:rPr lang="en-US" sz="140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؛ وفي بقية الكود اقرأ عبر </a:t>
            </a:r>
            <a:r>
              <a:rPr lang="en-US" sz="130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config()</a:t>
            </a:r>
            <a:r>
              <a:rPr lang="en-US" sz="140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.</a:t>
            </a:r>
            <a:endParaRPr lang="en-US" sz="1400" dirty="0"/>
          </a:p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غيّرت قيمة في الإنتاج؟ نفّذ </a:t>
            </a:r>
            <a:r>
              <a:rPr lang="en-US" sz="130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artisan config:cache</a:t>
            </a:r>
            <a:r>
              <a:rPr lang="en-US" sz="140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لإعادة بناء </a:t>
            </a:r>
            <a:r>
              <a:rPr lang="en-US" sz="1400" dirty="0" err="1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الكاش</a:t>
            </a:r>
            <a:r>
              <a:rPr lang="en-US" sz="140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715000" y="5074920"/>
            <a:ext cx="592531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3A3F52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4824" y="5221224"/>
            <a:ext cx="237744" cy="237744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897880" y="5157216"/>
            <a:ext cx="5148072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C53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تلميح:  </a:t>
            </a:r>
            <a:r>
              <a:rPr lang="en-US" sz="12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احتفظ بملف </a:t>
            </a:r>
            <a:r>
              <a:rPr lang="en-US" sz="11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.env.example</a:t>
            </a:r>
            <a:r>
              <a:rPr lang="en-US" sz="12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محدثاً في المستودع ليعرف فريقك المفاتيح المطلوبة دون كشف قيمها.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3938506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01852" cy="310896"/>
          </a:xfrm>
          <a:prstGeom prst="roundRect">
            <a:avLst>
              <a:gd name="adj" fmla="val 50000"/>
            </a:avLst>
          </a:prstGeom>
          <a:solidFill>
            <a:srgbClr val="FFE4EA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18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11D4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الأساسيات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1155680" y="384048"/>
            <a:ext cx="493776" cy="4937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4062" y="512430"/>
            <a:ext cx="237012" cy="2370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834640" y="310896"/>
            <a:ext cx="8183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70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سطر الأوامر Artisan: مساعدك الدائم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/ 35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784080" y="647395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8B84A3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دليل Laravel التقني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8640" y="128016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4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أداة سطر الأوامر المرفقة مع كل مشروع — توليد ملفات، إدارة قاعدة البيانات، وتشغيل الخدمات. أهم ما ستستخدمه يومياً: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48640" y="1920240"/>
            <a:ext cx="11091672" cy="493776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9525">
            <a:solidFill>
              <a:srgbClr val="EFE9F2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11" name="Text 8"/>
          <p:cNvSpPr/>
          <p:nvPr/>
        </p:nvSpPr>
        <p:spPr>
          <a:xfrm>
            <a:off x="777240" y="1920240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artisan serve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035040" y="1993392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2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تشغيل خادم التطوير المحلي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2459736"/>
            <a:ext cx="11091672" cy="493776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9525">
            <a:solidFill>
              <a:srgbClr val="EFE9F2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14" name="Text 11"/>
          <p:cNvSpPr/>
          <p:nvPr/>
        </p:nvSpPr>
        <p:spPr>
          <a:xfrm>
            <a:off x="777240" y="2459736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artisan make:model Post -mcr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035040" y="2532888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2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نموذج + هجرة + متحكم Resource دفعة واحدة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48640" y="2999232"/>
            <a:ext cx="11091672" cy="493776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9525">
            <a:solidFill>
              <a:srgbClr val="EFE9F2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17" name="Text 14"/>
          <p:cNvSpPr/>
          <p:nvPr/>
        </p:nvSpPr>
        <p:spPr>
          <a:xfrm>
            <a:off x="777240" y="2999232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artisan migrate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035040" y="3072384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250" dirty="0" err="1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تنفيذ</a:t>
            </a:r>
            <a:r>
              <a:rPr lang="en-US" sz="12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</a:t>
            </a:r>
            <a:r>
              <a:rPr lang="ar-OM" sz="12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ملفات قواعد البيانات</a:t>
            </a:r>
            <a:r>
              <a:rPr lang="en-US" sz="12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المعلقة على قاعدة البيانات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3538728"/>
            <a:ext cx="11091672" cy="493776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9525">
            <a:solidFill>
              <a:srgbClr val="EFE9F2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20" name="Text 17"/>
          <p:cNvSpPr/>
          <p:nvPr/>
        </p:nvSpPr>
        <p:spPr>
          <a:xfrm>
            <a:off x="777240" y="3538728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artisan migrate:fresh --seed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035040" y="3611880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2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إعادة بناء الجداول من الصفر </a:t>
            </a:r>
            <a:r>
              <a:rPr lang="en-US" sz="1250" dirty="0" err="1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مع</a:t>
            </a:r>
            <a:r>
              <a:rPr lang="en-US" sz="12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</a:t>
            </a:r>
            <a:r>
              <a:rPr lang="en-US" sz="1250" dirty="0" err="1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</a:t>
            </a:r>
            <a:r>
              <a:rPr lang="ar-OM" sz="12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بيانات المبدئية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48640" y="4078224"/>
            <a:ext cx="11091672" cy="493776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9525">
            <a:solidFill>
              <a:srgbClr val="EFE9F2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23" name="Text 20"/>
          <p:cNvSpPr/>
          <p:nvPr/>
        </p:nvSpPr>
        <p:spPr>
          <a:xfrm>
            <a:off x="777240" y="4078224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artisan route:list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6035040" y="4151376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2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استعراض كل المسارات المعرفة وأسمائها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548640" y="4617720"/>
            <a:ext cx="11091672" cy="493776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9525">
            <a:solidFill>
              <a:srgbClr val="EFE9F2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26" name="Text 23"/>
          <p:cNvSpPr/>
          <p:nvPr/>
        </p:nvSpPr>
        <p:spPr>
          <a:xfrm>
            <a:off x="777240" y="4617720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artisan tinker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6035040" y="4690872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2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صدفة تفاعلية REPL لتجربة الكود مباشرة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548640" y="5157216"/>
            <a:ext cx="11091672" cy="493776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9525">
            <a:solidFill>
              <a:srgbClr val="EFE9F2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29" name="Text 26"/>
          <p:cNvSpPr/>
          <p:nvPr/>
        </p:nvSpPr>
        <p:spPr>
          <a:xfrm>
            <a:off x="777240" y="5157216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artisan queue:work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6035040" y="5230368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2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تشغيل معالج الطوابير للمهام الخلفية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548640" y="5696712"/>
            <a:ext cx="11091672" cy="493776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9525">
            <a:solidFill>
              <a:srgbClr val="EFE9F2"/>
            </a:solidFill>
            <a:prstDash val="solid"/>
          </a:ln>
        </p:spPr>
        <p:txBody>
          <a:bodyPr/>
          <a:lstStyle/>
          <a:p>
            <a:pPr marL="0" algn="r" defTabSz="914400" rtl="1" eaLnBrk="1" latinLnBrk="0" hangingPunct="1"/>
            <a:endParaRPr lang="en-OM"/>
          </a:p>
        </p:txBody>
      </p:sp>
      <p:sp>
        <p:nvSpPr>
          <p:cNvPr id="32" name="Text 29"/>
          <p:cNvSpPr/>
          <p:nvPr/>
        </p:nvSpPr>
        <p:spPr>
          <a:xfrm>
            <a:off x="777240" y="5696712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artisan make:command SendReport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6035040" y="5769864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2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بناء أمر Artisan مخصص لتطبيقك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2143315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FFE4EA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11D4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التوجيه والمتحكمات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1155680" y="384048"/>
            <a:ext cx="493776" cy="4937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4062" y="512430"/>
            <a:ext cx="237012" cy="2370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834640" y="310896"/>
            <a:ext cx="8183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70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التوجيه Routing: بوابة تطبيقك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/ 35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784080" y="647395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8B84A3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دليل Laravel التقني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5623560" cy="3931920"/>
          </a:xfrm>
          <a:prstGeom prst="roundRect">
            <a:avLst>
              <a:gd name="adj" fmla="val 2093"/>
            </a:avLst>
          </a:prstGeom>
          <a:solidFill>
            <a:srgbClr val="0A0E16"/>
          </a:solidFill>
          <a:ln w="12700">
            <a:solidFill>
              <a:srgbClr val="EFE9F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10" name="Shape 7"/>
          <p:cNvSpPr/>
          <p:nvPr/>
        </p:nvSpPr>
        <p:spPr>
          <a:xfrm>
            <a:off x="749808" y="1472184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1" name="Shape 8"/>
          <p:cNvSpPr/>
          <p:nvPr/>
        </p:nvSpPr>
        <p:spPr>
          <a:xfrm>
            <a:off x="905256" y="1472184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2" name="Shape 9"/>
          <p:cNvSpPr/>
          <p:nvPr/>
        </p:nvSpPr>
        <p:spPr>
          <a:xfrm>
            <a:off x="1060704" y="1472184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3" name="Text 10"/>
          <p:cNvSpPr/>
          <p:nvPr/>
        </p:nvSpPr>
        <p:spPr>
          <a:xfrm>
            <a:off x="1325880" y="137160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routes/web.php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49808" y="1709928"/>
            <a:ext cx="5221224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App\Http\Controllers\OrderController;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Illuminate\Support\Facades\Route;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Route::get('/', fn () =&gt; view('welcome'));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Route::get('/about', function () {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view('about');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Route::post('/orders', [OrderController::class, 'store']);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446520" y="1417320"/>
            <a:ext cx="5193792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web.php</a:t>
            </a:r>
            <a:r>
              <a:rPr lang="en-US" sz="140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لمسارات الويب: تفعّل تلقائياً الجلسات والكوكيز وحماية </a:t>
            </a:r>
            <a:r>
              <a:rPr lang="en-US" sz="140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CSRF</a:t>
            </a:r>
            <a:r>
              <a:rPr lang="en-US" sz="140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.</a:t>
            </a:r>
            <a:endParaRPr lang="en-US" sz="1400" dirty="0"/>
          </a:p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api.php</a:t>
            </a:r>
            <a:r>
              <a:rPr lang="en-US" sz="140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لمسارات الـ API: بلا حالة، وبالبادئة </a:t>
            </a:r>
            <a:r>
              <a:rPr lang="en-US" sz="130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</a:t>
            </a:r>
            <a:r>
              <a:rPr lang="en-US" sz="140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تلقائياً.</a:t>
            </a:r>
            <a:endParaRPr lang="en-US" sz="1400" dirty="0"/>
          </a:p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الأفعال المدعومة: </a:t>
            </a:r>
            <a:r>
              <a:rPr lang="en-US" sz="130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r>
              <a:rPr lang="en-US" sz="140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و </a:t>
            </a:r>
            <a:r>
              <a:rPr lang="en-US" sz="130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r>
              <a:rPr lang="en-US" sz="140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و </a:t>
            </a:r>
            <a:r>
              <a:rPr lang="en-US" sz="130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</a:t>
            </a:r>
            <a:r>
              <a:rPr lang="en-US" sz="140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و </a:t>
            </a:r>
            <a:r>
              <a:rPr lang="en-US" sz="130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</a:t>
            </a:r>
            <a:r>
              <a:rPr lang="en-US" sz="140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و </a:t>
            </a:r>
            <a:r>
              <a:rPr lang="en-US" sz="130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r>
              <a:rPr lang="en-US" sz="140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و </a:t>
            </a:r>
            <a:r>
              <a:rPr lang="en-US" sz="130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any</a:t>
            </a:r>
            <a:r>
              <a:rPr lang="en-US" sz="140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.</a:t>
            </a:r>
            <a:endParaRPr lang="en-US" sz="1400" dirty="0"/>
          </a:p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اختصارات جاهزة: </a:t>
            </a:r>
            <a:r>
              <a:rPr lang="en-US" sz="130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Route::view()</a:t>
            </a:r>
            <a:r>
              <a:rPr lang="en-US" sz="140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لعرض قالب مباشرة و </a:t>
            </a:r>
            <a:r>
              <a:rPr lang="en-US" sz="130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Route::redirect()</a:t>
            </a:r>
            <a:r>
              <a:rPr lang="en-US" sz="140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للتحويل.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46520" y="5349240"/>
            <a:ext cx="519379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3A3F52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4824" y="5495544"/>
            <a:ext cx="237744" cy="23774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629400" y="5431536"/>
            <a:ext cx="4416552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C53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تلميح:  </a:t>
            </a:r>
            <a:r>
              <a:rPr lang="en-US" sz="12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تحقق من مساراتك في أي لحظة عبر </a:t>
            </a:r>
            <a:r>
              <a:rPr lang="en-US" sz="11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artisan route:list</a:t>
            </a:r>
            <a:r>
              <a:rPr lang="en-US" sz="12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9349411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FFE4EA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11D4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التوجيه والمتحكمات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1155680" y="384048"/>
            <a:ext cx="493776" cy="4937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4062" y="512430"/>
            <a:ext cx="237012" cy="2370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834640" y="310896"/>
            <a:ext cx="8183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70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التوجيه المتقدم: معاملات ومجموعات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35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784080" y="647395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8B84A3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دليل Laravel التقني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5943600" cy="4434840"/>
          </a:xfrm>
          <a:prstGeom prst="roundRect">
            <a:avLst>
              <a:gd name="adj" fmla="val 1856"/>
            </a:avLst>
          </a:prstGeom>
          <a:solidFill>
            <a:srgbClr val="0A0E16"/>
          </a:solidFill>
          <a:ln w="12700">
            <a:solidFill>
              <a:srgbClr val="EFE9F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10" name="Shape 7"/>
          <p:cNvSpPr/>
          <p:nvPr/>
        </p:nvSpPr>
        <p:spPr>
          <a:xfrm>
            <a:off x="749808" y="1472184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1" name="Shape 8"/>
          <p:cNvSpPr/>
          <p:nvPr/>
        </p:nvSpPr>
        <p:spPr>
          <a:xfrm>
            <a:off x="905256" y="1472184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2" name="Shape 9"/>
          <p:cNvSpPr/>
          <p:nvPr/>
        </p:nvSpPr>
        <p:spPr>
          <a:xfrm>
            <a:off x="1060704" y="1472184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3" name="Text 10"/>
          <p:cNvSpPr/>
          <p:nvPr/>
        </p:nvSpPr>
        <p:spPr>
          <a:xfrm>
            <a:off x="1325880" y="1371600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routes/web.php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49808" y="1709928"/>
            <a:ext cx="5541264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7FB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معامل مسار + اسم للمسار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Route::get('/posts/{post}', [PostController::class, 'show'])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-&gt;name('posts.show');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7FB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قيد على شكل المعامل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Route::get('/users/{id}', ...)-&gt;whereNumber('id');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7FB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مجموعة بخصائص مشتركة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Route::middleware('auth')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-&gt;prefix('admin')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-&gt;name('admin.')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-&gt;group(function () {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Route::get('/dashboard', ...)-&gt;name('home');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766560" y="1417320"/>
            <a:ext cx="487375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 algn="r" rtl="1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المعاملات بين أقواس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{post}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، وتصبح اختيارية بعلامة استفهام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{id?}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.</a:t>
            </a:r>
            <a:endParaRPr lang="en-US" sz="1350" dirty="0"/>
          </a:p>
          <a:p>
            <a:pPr marL="165100" indent="-165100" algn="r" rtl="1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تسمية المسارات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تحررك من الروابط الثابتة: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route('posts.show', $post)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تولّد الرابط أينما كنت.</a:t>
            </a:r>
            <a:endParaRPr lang="en-US" sz="1350" dirty="0"/>
          </a:p>
          <a:p>
            <a:pPr marL="165100" indent="-165100" algn="r" rtl="1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Route Model Binding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: عرّف المعامل باسم النموذج، فيحقن Laravel السجل تلقائياً — أو يرجع </a:t>
            </a:r>
            <a:r>
              <a:rPr lang="en-US" sz="13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404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.</a:t>
            </a:r>
            <a:endParaRPr lang="en-US" sz="1350" dirty="0"/>
          </a:p>
          <a:p>
            <a:pPr marL="165100" indent="-165100" algn="r" rtl="1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المجموعات تجمع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middleware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و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prefix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و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المشتركة فتختصر التكرار.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36226597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FFE4EA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11D4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التوجيه والمتحكمات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1155680" y="384048"/>
            <a:ext cx="493776" cy="4937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4062" y="512430"/>
            <a:ext cx="237012" cy="2370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834640" y="310896"/>
            <a:ext cx="8183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70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المتحكمات Controllers ونمط Resource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35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784080" y="647395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8B84A3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دليل Laravel التقني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5989320" cy="3429000"/>
          </a:xfrm>
          <a:prstGeom prst="roundRect">
            <a:avLst>
              <a:gd name="adj" fmla="val 2400"/>
            </a:avLst>
          </a:prstGeom>
          <a:solidFill>
            <a:srgbClr val="0A0E16"/>
          </a:solidFill>
          <a:ln w="12700">
            <a:solidFill>
              <a:srgbClr val="EFE9F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10" name="Shape 7"/>
          <p:cNvSpPr/>
          <p:nvPr/>
        </p:nvSpPr>
        <p:spPr>
          <a:xfrm>
            <a:off x="749808" y="1472184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1" name="Shape 8"/>
          <p:cNvSpPr/>
          <p:nvPr/>
        </p:nvSpPr>
        <p:spPr>
          <a:xfrm>
            <a:off x="905256" y="1472184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2" name="Shape 9"/>
          <p:cNvSpPr/>
          <p:nvPr/>
        </p:nvSpPr>
        <p:spPr>
          <a:xfrm>
            <a:off x="1060704" y="1472184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3" name="Text 10"/>
          <p:cNvSpPr/>
          <p:nvPr/>
        </p:nvSpPr>
        <p:spPr>
          <a:xfrm>
            <a:off x="1325880" y="13716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app/Http/Controllers/PostController.php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49808" y="1709928"/>
            <a:ext cx="5586984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PostController extends Controller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index()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view('posts.index', [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'posts' =&gt; Post::latest()-&gt;paginate(10),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]);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show(Post $post)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view('posts.show', compact('post'));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4937760"/>
            <a:ext cx="5989320" cy="1280160"/>
          </a:xfrm>
          <a:prstGeom prst="roundRect">
            <a:avLst>
              <a:gd name="adj" fmla="val 6429"/>
            </a:avLst>
          </a:prstGeom>
          <a:solidFill>
            <a:srgbClr val="0A0E16"/>
          </a:solidFill>
          <a:ln w="12700">
            <a:solidFill>
              <a:srgbClr val="EFE9F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16" name="Shape 13"/>
          <p:cNvSpPr/>
          <p:nvPr/>
        </p:nvSpPr>
        <p:spPr>
          <a:xfrm>
            <a:off x="749808" y="5084064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7" name="Shape 14"/>
          <p:cNvSpPr/>
          <p:nvPr/>
        </p:nvSpPr>
        <p:spPr>
          <a:xfrm>
            <a:off x="905256" y="5084064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8" name="Shape 15"/>
          <p:cNvSpPr/>
          <p:nvPr/>
        </p:nvSpPr>
        <p:spPr>
          <a:xfrm>
            <a:off x="1060704" y="5084064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9" name="Text 16"/>
          <p:cNvSpPr/>
          <p:nvPr/>
        </p:nvSpPr>
        <p:spPr>
          <a:xfrm>
            <a:off x="1325880" y="49834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49808" y="5321808"/>
            <a:ext cx="55869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artisan make:controller PostController --resource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Route::resource('posts', PostController::class);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812280" y="1371600"/>
            <a:ext cx="4846320" cy="3986784"/>
          </a:xfrm>
          <a:prstGeom prst="roundRect">
            <a:avLst>
              <a:gd name="adj" fmla="val 2064"/>
            </a:avLst>
          </a:prstGeom>
          <a:solidFill>
            <a:srgbClr val="FFFFFF"/>
          </a:solidFill>
          <a:ln w="12700">
            <a:solidFill>
              <a:srgbClr val="EFE9F2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22" name="Text 19"/>
          <p:cNvSpPr/>
          <p:nvPr/>
        </p:nvSpPr>
        <p:spPr>
          <a:xfrm>
            <a:off x="6949440" y="1444752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7955280" y="144475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AB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/posts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10104120" y="156362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10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عرض القائمة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949440" y="1993392"/>
            <a:ext cx="4572000" cy="0"/>
          </a:xfrm>
          <a:prstGeom prst="line">
            <a:avLst/>
          </a:prstGeom>
          <a:noFill/>
          <a:ln w="9525">
            <a:solidFill>
              <a:srgbClr val="EFE9F2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26" name="Text 23"/>
          <p:cNvSpPr/>
          <p:nvPr/>
        </p:nvSpPr>
        <p:spPr>
          <a:xfrm>
            <a:off x="6949440" y="1993392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7955280" y="199339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AB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/posts/create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10104120" y="211226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10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نموذج الإنشاء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949440" y="2542032"/>
            <a:ext cx="4572000" cy="0"/>
          </a:xfrm>
          <a:prstGeom prst="line">
            <a:avLst/>
          </a:prstGeom>
          <a:noFill/>
          <a:ln w="9525">
            <a:solidFill>
              <a:srgbClr val="EFE9F2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30" name="Text 27"/>
          <p:cNvSpPr/>
          <p:nvPr/>
        </p:nvSpPr>
        <p:spPr>
          <a:xfrm>
            <a:off x="6949440" y="2542032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7955280" y="25420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AB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/posts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10104120" y="266090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10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حفظ سجل جديد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49440" y="3090672"/>
            <a:ext cx="4572000" cy="0"/>
          </a:xfrm>
          <a:prstGeom prst="line">
            <a:avLst/>
          </a:prstGeom>
          <a:noFill/>
          <a:ln w="9525">
            <a:solidFill>
              <a:srgbClr val="EFE9F2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34" name="Text 31"/>
          <p:cNvSpPr/>
          <p:nvPr/>
        </p:nvSpPr>
        <p:spPr>
          <a:xfrm>
            <a:off x="6949440" y="3090672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7955280" y="309067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AB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/posts/{id}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10104120" y="320954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10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عرض سجل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6949440" y="3639312"/>
            <a:ext cx="4572000" cy="0"/>
          </a:xfrm>
          <a:prstGeom prst="line">
            <a:avLst/>
          </a:prstGeom>
          <a:noFill/>
          <a:ln w="9525">
            <a:solidFill>
              <a:srgbClr val="EFE9F2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38" name="Text 35"/>
          <p:cNvSpPr/>
          <p:nvPr/>
        </p:nvSpPr>
        <p:spPr>
          <a:xfrm>
            <a:off x="6949440" y="3639312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</a:t>
            </a:r>
            <a:endParaRPr lang="en-US" sz="1150" dirty="0"/>
          </a:p>
        </p:txBody>
      </p:sp>
      <p:sp>
        <p:nvSpPr>
          <p:cNvPr id="39" name="Text 36"/>
          <p:cNvSpPr/>
          <p:nvPr/>
        </p:nvSpPr>
        <p:spPr>
          <a:xfrm>
            <a:off x="7955280" y="363931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AB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/posts/{id}/edit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10104120" y="375818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10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نموذج التعديل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6949440" y="4187952"/>
            <a:ext cx="4572000" cy="0"/>
          </a:xfrm>
          <a:prstGeom prst="line">
            <a:avLst/>
          </a:prstGeom>
          <a:noFill/>
          <a:ln w="9525">
            <a:solidFill>
              <a:srgbClr val="EFE9F2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42" name="Text 39"/>
          <p:cNvSpPr/>
          <p:nvPr/>
        </p:nvSpPr>
        <p:spPr>
          <a:xfrm>
            <a:off x="6949440" y="4187952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endParaRPr lang="en-US" sz="1150" dirty="0"/>
          </a:p>
        </p:txBody>
      </p:sp>
      <p:sp>
        <p:nvSpPr>
          <p:cNvPr id="43" name="Text 40"/>
          <p:cNvSpPr/>
          <p:nvPr/>
        </p:nvSpPr>
        <p:spPr>
          <a:xfrm>
            <a:off x="7955280" y="418795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AB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/posts/{id}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10104120" y="430682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10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حفظ التعديل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6949440" y="4736592"/>
            <a:ext cx="4572000" cy="0"/>
          </a:xfrm>
          <a:prstGeom prst="line">
            <a:avLst/>
          </a:prstGeom>
          <a:noFill/>
          <a:ln w="9525">
            <a:solidFill>
              <a:srgbClr val="EFE9F2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46" name="Text 43"/>
          <p:cNvSpPr/>
          <p:nvPr/>
        </p:nvSpPr>
        <p:spPr>
          <a:xfrm>
            <a:off x="6949440" y="4736592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destroy</a:t>
            </a:r>
            <a:endParaRPr lang="en-US" sz="1150" dirty="0"/>
          </a:p>
        </p:txBody>
      </p:sp>
      <p:sp>
        <p:nvSpPr>
          <p:cNvPr id="47" name="Text 44"/>
          <p:cNvSpPr/>
          <p:nvPr/>
        </p:nvSpPr>
        <p:spPr>
          <a:xfrm>
            <a:off x="7955280" y="473659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AB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/posts/{id}</a:t>
            </a:r>
            <a:endParaRPr lang="en-US" sz="1050" dirty="0"/>
          </a:p>
        </p:txBody>
      </p:sp>
      <p:sp>
        <p:nvSpPr>
          <p:cNvPr id="48" name="Text 45"/>
          <p:cNvSpPr/>
          <p:nvPr/>
        </p:nvSpPr>
        <p:spPr>
          <a:xfrm>
            <a:off x="10104120" y="485546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10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حذف السجل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6812280" y="544068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250" dirty="0">
                <a:solidFill>
                  <a:srgbClr val="8B84A3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سبع دوال جاهزة تغطي دورة CRUD كاملة بسطر واحد: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04562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89888" cy="310896"/>
          </a:xfrm>
          <a:prstGeom prst="roundRect">
            <a:avLst>
              <a:gd name="adj" fmla="val 50000"/>
            </a:avLst>
          </a:prstGeom>
          <a:solidFill>
            <a:srgbClr val="FFE4EA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11D4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واجهات Blade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1155680" y="384048"/>
            <a:ext cx="493776" cy="4937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4062" y="512430"/>
            <a:ext cx="237012" cy="2370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834640" y="310896"/>
            <a:ext cx="8183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70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محرك القوالب Blade: الأساسيات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35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784080" y="647395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8B84A3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دليل Laravel التقني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5760720" cy="4160520"/>
          </a:xfrm>
          <a:prstGeom prst="roundRect">
            <a:avLst>
              <a:gd name="adj" fmla="val 1978"/>
            </a:avLst>
          </a:prstGeom>
          <a:solidFill>
            <a:srgbClr val="0A0E16"/>
          </a:solidFill>
          <a:ln w="12700">
            <a:solidFill>
              <a:srgbClr val="EFE9F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10" name="Shape 7"/>
          <p:cNvSpPr/>
          <p:nvPr/>
        </p:nvSpPr>
        <p:spPr>
          <a:xfrm>
            <a:off x="749808" y="1472184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1" name="Shape 8"/>
          <p:cNvSpPr/>
          <p:nvPr/>
        </p:nvSpPr>
        <p:spPr>
          <a:xfrm>
            <a:off x="905256" y="1472184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2" name="Shape 9"/>
          <p:cNvSpPr/>
          <p:nvPr/>
        </p:nvSpPr>
        <p:spPr>
          <a:xfrm>
            <a:off x="1060704" y="1472184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3" name="Text 10"/>
          <p:cNvSpPr/>
          <p:nvPr/>
        </p:nvSpPr>
        <p:spPr>
          <a:xfrm>
            <a:off x="1325880" y="137160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resources/views/posts/index.blade.php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49808" y="1709928"/>
            <a:ext cx="5358384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&lt;h1&gt;{{ $title }}&lt;/h1&gt;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@forelse ($posts as $post)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&lt;article&gt;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&lt;h2&gt;{{ $post-&gt;title }}&lt;/h2&gt;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&lt;p&gt;{{ Str::limit($post-&gt;body, 100) }}&lt;/p&gt;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&lt;/article&gt;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@empty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&lt;p&gt;لا توجد مقالات بعد.&lt;/p&gt;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@endforelse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@auth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 href="{{ route('posts.create') }}"&gt;جديد&lt;/a&gt;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@endauth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583680" y="1417320"/>
            <a:ext cx="5056632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 algn="r" rtl="1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الأقواس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$var }}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تطبع القيمة </a:t>
            </a:r>
            <a:r>
              <a:rPr lang="en-US" sz="13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مع الحماية التلقائية من XSS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.</a:t>
            </a:r>
            <a:endParaRPr lang="en-US" sz="1350" dirty="0"/>
          </a:p>
          <a:p>
            <a:pPr marL="165100" indent="-165100" algn="r" rtl="1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{!! $html !!}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تطبع بلا ترميز — استخدمها فقط مع محتوى تثق به.</a:t>
            </a:r>
            <a:endParaRPr lang="en-US" sz="1350" dirty="0"/>
          </a:p>
          <a:p>
            <a:pPr marL="165100" indent="-165100" algn="r" rtl="1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توجيهات التحكم: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@if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و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@foreach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و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@forelse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و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@auth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و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@guest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.</a:t>
            </a:r>
            <a:endParaRPr lang="en-US" sz="1350" dirty="0"/>
          </a:p>
          <a:p>
            <a:pPr marL="165100" indent="-165100" algn="r" rtl="1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مرر البيانات من المتحكم: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view('posts.index', ['title' =&gt; 'المقالات'])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.</a:t>
            </a:r>
            <a:endParaRPr lang="en-US" sz="1350" dirty="0"/>
          </a:p>
          <a:p>
            <a:pPr marL="165100" indent="-165100" algn="r" rtl="1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القوالب تُترجم إلى PHP خام وتُخزن مؤقتاً — </a:t>
            </a:r>
            <a:r>
              <a:rPr lang="en-US" sz="13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بلا كلفة أداء تُذكر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29551813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89888" cy="310896"/>
          </a:xfrm>
          <a:prstGeom prst="roundRect">
            <a:avLst>
              <a:gd name="adj" fmla="val 50000"/>
            </a:avLst>
          </a:prstGeom>
          <a:solidFill>
            <a:srgbClr val="FFE4EA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11D4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واجهات Blade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1155680" y="384048"/>
            <a:ext cx="493776" cy="4937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4062" y="512430"/>
            <a:ext cx="237012" cy="2370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834640" y="310896"/>
            <a:ext cx="8183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70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التخطيطات والمكوّنات Components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35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784080" y="647395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8B84A3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دليل Laravel التقني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5760720" cy="2514600"/>
          </a:xfrm>
          <a:prstGeom prst="roundRect">
            <a:avLst>
              <a:gd name="adj" fmla="val 3273"/>
            </a:avLst>
          </a:prstGeom>
          <a:solidFill>
            <a:srgbClr val="0A0E16"/>
          </a:solidFill>
          <a:ln w="12700">
            <a:solidFill>
              <a:srgbClr val="EFE9F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10" name="Shape 7"/>
          <p:cNvSpPr/>
          <p:nvPr/>
        </p:nvSpPr>
        <p:spPr>
          <a:xfrm>
            <a:off x="749808" y="1472184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1" name="Shape 8"/>
          <p:cNvSpPr/>
          <p:nvPr/>
        </p:nvSpPr>
        <p:spPr>
          <a:xfrm>
            <a:off x="905256" y="1472184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2" name="Shape 9"/>
          <p:cNvSpPr/>
          <p:nvPr/>
        </p:nvSpPr>
        <p:spPr>
          <a:xfrm>
            <a:off x="1060704" y="1472184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3" name="Text 10"/>
          <p:cNvSpPr/>
          <p:nvPr/>
        </p:nvSpPr>
        <p:spPr>
          <a:xfrm>
            <a:off x="1325880" y="137160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resources/views/components/layout.blade.php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49808" y="1709928"/>
            <a:ext cx="535838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 dir="rtl"&gt;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&lt;nav&gt;...&lt;/nav&gt;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&lt;main&gt;{{ $slot }}&lt;/main&gt;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4023360"/>
            <a:ext cx="5760720" cy="2148840"/>
          </a:xfrm>
          <a:prstGeom prst="roundRect">
            <a:avLst>
              <a:gd name="adj" fmla="val 3830"/>
            </a:avLst>
          </a:prstGeom>
          <a:solidFill>
            <a:srgbClr val="0A0E16"/>
          </a:solidFill>
          <a:ln w="12700">
            <a:solidFill>
              <a:srgbClr val="EFE9F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16" name="Shape 13"/>
          <p:cNvSpPr/>
          <p:nvPr/>
        </p:nvSpPr>
        <p:spPr>
          <a:xfrm>
            <a:off x="749808" y="4169664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7" name="Shape 14"/>
          <p:cNvSpPr/>
          <p:nvPr/>
        </p:nvSpPr>
        <p:spPr>
          <a:xfrm>
            <a:off x="905256" y="4169664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8" name="Shape 15"/>
          <p:cNvSpPr/>
          <p:nvPr/>
        </p:nvSpPr>
        <p:spPr>
          <a:xfrm>
            <a:off x="1060704" y="4169664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9" name="Text 16"/>
          <p:cNvSpPr/>
          <p:nvPr/>
        </p:nvSpPr>
        <p:spPr>
          <a:xfrm>
            <a:off x="1325880" y="406908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استخدام المكوّنات في أي صفحة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49808" y="4407408"/>
            <a:ext cx="535838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&lt;x-layout&gt;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&lt;x-alert type="error" :message="$msg" /&gt;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&lt;h1&gt;لوحة التحكم&lt;/h1&gt;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&lt;/x-layout&gt;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583680" y="1417320"/>
            <a:ext cx="5056632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 algn="r" rtl="1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أي ملف داخل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resources/views/components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يصبح وسماً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&lt;x-name&gt;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جاهزاً.</a:t>
            </a:r>
            <a:endParaRPr lang="en-US" sz="1350" dirty="0"/>
          </a:p>
          <a:p>
            <a:pPr marL="165100" indent="-165100" algn="r" rtl="1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$slot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يستقبل المحتوى الداخلي للوسم — أساس بناء التخطيطات الحديثة.</a:t>
            </a:r>
            <a:endParaRPr lang="en-US" sz="1350" dirty="0"/>
          </a:p>
          <a:p>
            <a:pPr marL="165100" indent="-165100" algn="r" rtl="1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الخصائص: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type="error"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نص ثابت، و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:message="$msg"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قيمة ديناميكية تُعرّف عبر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@props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.</a:t>
            </a:r>
            <a:endParaRPr lang="en-US" sz="1350" dirty="0"/>
          </a:p>
          <a:p>
            <a:pPr marL="165100" indent="-165100" algn="r" rtl="1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الأسلوب الكلاسيكي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@extends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و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@yield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و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@section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ما زال مدعوماً بالكامل.</a:t>
            </a:r>
            <a:endParaRPr lang="en-US" sz="1350" dirty="0"/>
          </a:p>
          <a:p>
            <a:pPr marL="165100" indent="-165100" algn="r" rtl="1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أنشئ مكوّناً بكلاس PHP خاص به: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artisan make:component Alert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31134463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581912" cy="310896"/>
          </a:xfrm>
          <a:prstGeom prst="roundRect">
            <a:avLst>
              <a:gd name="adj" fmla="val 50000"/>
            </a:avLst>
          </a:prstGeom>
          <a:solidFill>
            <a:srgbClr val="FFE4EA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11D4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قاعدة البيانات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1155680" y="384048"/>
            <a:ext cx="493776" cy="4937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4062" y="512430"/>
            <a:ext cx="237012" cy="2370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834640" y="310896"/>
            <a:ext cx="8183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OM" sz="270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ملفات قواعد البيانات</a:t>
            </a:r>
            <a:r>
              <a:rPr lang="en-US" sz="270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Migrations: نسخ لبنية بياناتك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35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784080" y="647395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8B84A3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دليل Laravel التقني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6035040" cy="3383280"/>
          </a:xfrm>
          <a:prstGeom prst="roundRect">
            <a:avLst>
              <a:gd name="adj" fmla="val 2432"/>
            </a:avLst>
          </a:prstGeom>
          <a:solidFill>
            <a:srgbClr val="0A0E16"/>
          </a:solidFill>
          <a:ln w="12700">
            <a:solidFill>
              <a:srgbClr val="EFE9F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10" name="Shape 7"/>
          <p:cNvSpPr/>
          <p:nvPr/>
        </p:nvSpPr>
        <p:spPr>
          <a:xfrm>
            <a:off x="749808" y="1472184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1" name="Shape 8"/>
          <p:cNvSpPr/>
          <p:nvPr/>
        </p:nvSpPr>
        <p:spPr>
          <a:xfrm>
            <a:off x="905256" y="1472184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2" name="Shape 9"/>
          <p:cNvSpPr/>
          <p:nvPr/>
        </p:nvSpPr>
        <p:spPr>
          <a:xfrm>
            <a:off x="1060704" y="1472184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3" name="Text 10"/>
          <p:cNvSpPr/>
          <p:nvPr/>
        </p:nvSpPr>
        <p:spPr>
          <a:xfrm>
            <a:off x="1325880" y="1371600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database/migrations/..._create_posts_table.php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49808" y="1709928"/>
            <a:ext cx="5632704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Schema::create('posts', function (Blueprint $table) {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$table-&gt;id();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$table-&gt;string('title');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$table-&gt;text('body');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$table-&gt;foreignId('user_id')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-&gt;constrained()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-&gt;cascadeOnDelete();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$table-&gt;boolean('published')-&gt;default(false);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$table-&gt;timestamps();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4892040"/>
            <a:ext cx="6035040" cy="1325880"/>
          </a:xfrm>
          <a:prstGeom prst="roundRect">
            <a:avLst>
              <a:gd name="adj" fmla="val 6207"/>
            </a:avLst>
          </a:prstGeom>
          <a:solidFill>
            <a:srgbClr val="0A0E16"/>
          </a:solidFill>
          <a:ln w="12700">
            <a:solidFill>
              <a:srgbClr val="EFE9F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16" name="Shape 13"/>
          <p:cNvSpPr/>
          <p:nvPr/>
        </p:nvSpPr>
        <p:spPr>
          <a:xfrm>
            <a:off x="749808" y="5038344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7" name="Shape 14"/>
          <p:cNvSpPr/>
          <p:nvPr/>
        </p:nvSpPr>
        <p:spPr>
          <a:xfrm>
            <a:off x="905256" y="5038344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8" name="Shape 15"/>
          <p:cNvSpPr/>
          <p:nvPr/>
        </p:nvSpPr>
        <p:spPr>
          <a:xfrm>
            <a:off x="1060704" y="5038344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9" name="Text 16"/>
          <p:cNvSpPr/>
          <p:nvPr/>
        </p:nvSpPr>
        <p:spPr>
          <a:xfrm>
            <a:off x="1325880" y="4937760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49808" y="5276088"/>
            <a:ext cx="563270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15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artisan make:migration create_posts_table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15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artisan migrate        # التنفيذ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15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artisan migrate:rollback  # التراجع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858000" y="1417320"/>
            <a:ext cx="4782312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نظام </a:t>
            </a:r>
            <a:r>
              <a:rPr lang="en-US" sz="13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تحكم بالإصدارات لقاعدة البيانات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: بنية الجداول كود يعيش مع المشروع في Git.</a:t>
            </a:r>
            <a:endParaRPr lang="en-US" sz="1350" dirty="0"/>
          </a:p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كل ملف فيه دالتا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للتنفيذ و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للتراجع، وتُنفذ الملفات بترتيبها الزمني.</a:t>
            </a:r>
            <a:endParaRPr lang="en-US" sz="1350" dirty="0"/>
          </a:p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foreignId()-&gt;constrained()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تبني المفتاح الأجنبي وقيوده بسطر واحد.</a:t>
            </a:r>
            <a:endParaRPr lang="en-US" sz="1350" dirty="0"/>
          </a:p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أثناء التطوير: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migrate:fresh --seed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تهدم كل شيء وتعيد بناءه ببيانات تجريبية.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22665971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581912" cy="310896"/>
          </a:xfrm>
          <a:prstGeom prst="roundRect">
            <a:avLst>
              <a:gd name="adj" fmla="val 50000"/>
            </a:avLst>
          </a:prstGeom>
          <a:solidFill>
            <a:srgbClr val="FFE4EA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11D4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قاعدة البيانات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1155680" y="384048"/>
            <a:ext cx="493776" cy="4937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4062" y="512430"/>
            <a:ext cx="237012" cy="2370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834640" y="310896"/>
            <a:ext cx="8183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70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نماذج Eloquent: جداولك ككائنات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35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784080" y="647395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8B84A3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دليل Laravel التقني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5806440" cy="3977640"/>
          </a:xfrm>
          <a:prstGeom prst="roundRect">
            <a:avLst>
              <a:gd name="adj" fmla="val 2069"/>
            </a:avLst>
          </a:prstGeom>
          <a:solidFill>
            <a:srgbClr val="0A0E16"/>
          </a:solidFill>
          <a:ln w="12700">
            <a:solidFill>
              <a:srgbClr val="EFE9F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10" name="Shape 7"/>
          <p:cNvSpPr/>
          <p:nvPr/>
        </p:nvSpPr>
        <p:spPr>
          <a:xfrm>
            <a:off x="749808" y="1472184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1" name="Shape 8"/>
          <p:cNvSpPr/>
          <p:nvPr/>
        </p:nvSpPr>
        <p:spPr>
          <a:xfrm>
            <a:off x="905256" y="1472184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2" name="Shape 9"/>
          <p:cNvSpPr/>
          <p:nvPr/>
        </p:nvSpPr>
        <p:spPr>
          <a:xfrm>
            <a:off x="1060704" y="1472184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3" name="Text 10"/>
          <p:cNvSpPr/>
          <p:nvPr/>
        </p:nvSpPr>
        <p:spPr>
          <a:xfrm>
            <a:off x="1325880" y="13716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app/Models/Post.php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49808" y="1709928"/>
            <a:ext cx="5404104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Post extends Model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7FB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الحقول المسموح تعبئتها جماعياً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protected $fillable = [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'title', 'body', 'published',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];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7FB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تحويل الأنواع تلقائياً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protected function casts(): array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[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'published' =&gt; 'boolean',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'meta'      =&gt; 'array',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];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629400" y="1417320"/>
            <a:ext cx="5010912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 algn="r" rtl="1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كل جدول يقابله نموذج، والاسم يُشتق تلقائياً: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تعني جدول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posts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.</a:t>
            </a:r>
            <a:endParaRPr lang="en-US" sz="1350" dirty="0"/>
          </a:p>
          <a:p>
            <a:pPr marL="165100" indent="-165100" algn="r" rtl="1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$fillable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قائمة بيضاء تحميك من ثغرة </a:t>
            </a:r>
            <a:r>
              <a:rPr lang="en-US" sz="13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Mass Assignment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.</a:t>
            </a:r>
            <a:endParaRPr lang="en-US" sz="1350" dirty="0"/>
          </a:p>
          <a:p>
            <a:pPr marL="165100" indent="-165100" algn="r" rtl="1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casts()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تحوّل الأعمدة لأنواع PHP: boolean، تواريخ Carbon، مصفوفات من JSON.</a:t>
            </a:r>
            <a:endParaRPr lang="en-US" sz="1350" dirty="0"/>
          </a:p>
          <a:p>
            <a:pPr marL="165100" indent="-165100" algn="r" rtl="1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Accessors/Mutators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لتخصيص القراءة والكتابة عند الحاجة.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629400" y="5029200"/>
            <a:ext cx="501091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3A3F52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4824" y="5175504"/>
            <a:ext cx="237744" cy="23774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812280" y="5111496"/>
            <a:ext cx="423367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C53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تلميح:  </a:t>
            </a:r>
            <a:r>
              <a:rPr lang="en-US" sz="12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جديد Laravel 13: يمكنك تعريف إعدادات النموذج بـ </a:t>
            </a:r>
            <a:r>
              <a:rPr lang="en-US" sz="12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PHP Attributes</a:t>
            </a:r>
            <a:r>
              <a:rPr lang="en-US" sz="12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مثل </a:t>
            </a:r>
            <a:r>
              <a:rPr lang="en-US" sz="11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#[Table('posts')]</a:t>
            </a:r>
            <a:r>
              <a:rPr lang="en-US" sz="12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كبديل اختياري للخصائص.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6325699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581912" cy="310896"/>
          </a:xfrm>
          <a:prstGeom prst="roundRect">
            <a:avLst>
              <a:gd name="adj" fmla="val 50000"/>
            </a:avLst>
          </a:prstGeom>
          <a:solidFill>
            <a:srgbClr val="FFE4EA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11D4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قاعدة البيانات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1155680" y="384048"/>
            <a:ext cx="493776" cy="4937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4062" y="512430"/>
            <a:ext cx="237012" cy="2370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834640" y="310896"/>
            <a:ext cx="8183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70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عمليات CRUD مع Eloquent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/ 35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784080" y="647395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8B84A3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دليل Laravel التقني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6126480" cy="4892040"/>
          </a:xfrm>
          <a:prstGeom prst="roundRect">
            <a:avLst>
              <a:gd name="adj" fmla="val 1682"/>
            </a:avLst>
          </a:prstGeom>
          <a:solidFill>
            <a:srgbClr val="0A0E16"/>
          </a:solidFill>
          <a:ln w="12700">
            <a:solidFill>
              <a:srgbClr val="EFE9F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10" name="Shape 7"/>
          <p:cNvSpPr/>
          <p:nvPr/>
        </p:nvSpPr>
        <p:spPr>
          <a:xfrm>
            <a:off x="749808" y="1472184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1" name="Shape 8"/>
          <p:cNvSpPr/>
          <p:nvPr/>
        </p:nvSpPr>
        <p:spPr>
          <a:xfrm>
            <a:off x="905256" y="1472184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2" name="Shape 9"/>
          <p:cNvSpPr/>
          <p:nvPr/>
        </p:nvSpPr>
        <p:spPr>
          <a:xfrm>
            <a:off x="1060704" y="1472184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3" name="Text 10"/>
          <p:cNvSpPr/>
          <p:nvPr/>
        </p:nvSpPr>
        <p:spPr>
          <a:xfrm>
            <a:off x="1325880" y="1371600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أنشئ، اقرأ، حدّث، احذف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49808" y="1709928"/>
            <a:ext cx="5724144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7FB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إنشاء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$post = Post::create([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'title' =&gt; 'مرحباً بالعالم',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'body'  =&gt; '...',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7FB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قراءة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$posts = Post::where('published', true)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-&gt;latest()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-&gt;paginate(15);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$post = Post::findOrFail($id);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7FB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تحديث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$post-&gt;update(['title' =&gt; 'عنوان جديد']);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7FB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حذف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$post-&gt;delete();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949440" y="1417320"/>
            <a:ext cx="4690872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get()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تعيد مجموعة Collection، و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first()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سجلاً واحداً، و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findOrFail()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ترمي </a:t>
            </a:r>
            <a:r>
              <a:rPr lang="en-US" sz="13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404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تلقائياً إن غاب.</a:t>
            </a:r>
            <a:endParaRPr lang="en-US" sz="1350" dirty="0"/>
          </a:p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paginate()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تقسيم جاهز مع روابط الصفحات في Blade عبر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$posts-&gt;links()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.</a:t>
            </a:r>
            <a:endParaRPr lang="en-US" sz="1350" dirty="0"/>
          </a:p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اختصارات ذكية: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firstOrCreate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و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updateOrCreate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تدمج البحث والكتابة.</a:t>
            </a:r>
            <a:endParaRPr lang="en-US" sz="1350" dirty="0"/>
          </a:p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احذف بنعومة: خاصية </a:t>
            </a:r>
            <a:r>
              <a:rPr lang="en-US" sz="13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SoftDeletes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تبقي السجل مع عمود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deleted_at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32304665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581912" cy="310896"/>
          </a:xfrm>
          <a:prstGeom prst="roundRect">
            <a:avLst>
              <a:gd name="adj" fmla="val 50000"/>
            </a:avLst>
          </a:prstGeom>
          <a:solidFill>
            <a:srgbClr val="FFE4EA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11D4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قاعدة البيانات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1155680" y="384048"/>
            <a:ext cx="493776" cy="4937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4062" y="512430"/>
            <a:ext cx="237012" cy="2370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834640" y="310896"/>
            <a:ext cx="8183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70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العلاقات (1): واحد-لواحد وواحد-لمتعدد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/ 35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784080" y="647395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8B84A3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دليل Laravel التقني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6126480" cy="4480560"/>
          </a:xfrm>
          <a:prstGeom prst="roundRect">
            <a:avLst>
              <a:gd name="adj" fmla="val 1837"/>
            </a:avLst>
          </a:prstGeom>
          <a:solidFill>
            <a:srgbClr val="0A0E16"/>
          </a:solidFill>
          <a:ln w="12700">
            <a:solidFill>
              <a:srgbClr val="EFE9F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10" name="Shape 7"/>
          <p:cNvSpPr/>
          <p:nvPr/>
        </p:nvSpPr>
        <p:spPr>
          <a:xfrm>
            <a:off x="749808" y="1472184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1" name="Shape 8"/>
          <p:cNvSpPr/>
          <p:nvPr/>
        </p:nvSpPr>
        <p:spPr>
          <a:xfrm>
            <a:off x="905256" y="1472184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2" name="Shape 9"/>
          <p:cNvSpPr/>
          <p:nvPr/>
        </p:nvSpPr>
        <p:spPr>
          <a:xfrm>
            <a:off x="1060704" y="1472184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3" name="Text 10"/>
          <p:cNvSpPr/>
          <p:nvPr/>
        </p:nvSpPr>
        <p:spPr>
          <a:xfrm>
            <a:off x="1325880" y="1371600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app/Models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49808" y="1709928"/>
            <a:ext cx="5724144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User extends Model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profile()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return $this-&gt;hasOne(Profile::class); }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posts()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return $this-&gt;hasMany(Post::class); }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Post extends Model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user()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return $this-&gt;belongsTo(User::class); }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$user-&gt;posts;       // Collection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$post-&gt;user-&gt;name;  // الكاتب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949440" y="1417320"/>
            <a:ext cx="4690872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hasOne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و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hasMany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في الطرف </a:t>
            </a:r>
            <a:r>
              <a:rPr lang="en-US" sz="13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الأب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، ويقابلها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belongsTo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في الطرف التابع.</a:t>
            </a:r>
            <a:endParaRPr lang="en-US" sz="1350" dirty="0"/>
          </a:p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تُبنى على المفتاح الأجنبي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user_id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بالاصطلاح — دون أي إعداد إضافي.</a:t>
            </a:r>
            <a:endParaRPr lang="en-US" sz="1350" dirty="0"/>
          </a:p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نادِ العلاقة </a:t>
            </a:r>
            <a:r>
              <a:rPr lang="en-US" sz="13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كخاصية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$user-&gt;posts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لجلب النتائج، أو </a:t>
            </a:r>
            <a:r>
              <a:rPr lang="en-US" sz="13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كدالة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posts()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لمتابعة الاستعلام.</a:t>
            </a:r>
            <a:endParaRPr lang="en-US" sz="1350" dirty="0"/>
          </a:p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أنشئ سجلاً مرتبطاً مباشرة: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$user-&gt;posts()-&gt;create([...])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24329723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581912" cy="310896"/>
          </a:xfrm>
          <a:prstGeom prst="roundRect">
            <a:avLst>
              <a:gd name="adj" fmla="val 50000"/>
            </a:avLst>
          </a:prstGeom>
          <a:solidFill>
            <a:srgbClr val="FFE4EA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11D4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قاعدة البيانات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1155680" y="384048"/>
            <a:ext cx="493776" cy="4937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4062" y="512430"/>
            <a:ext cx="237012" cy="2370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834640" y="310896"/>
            <a:ext cx="8183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70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العلاقات (2): متعدد-لمتعدد ومشكلة N+1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/ 35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784080" y="647395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8B84A3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دليل Laravel التقني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6126480" cy="4892040"/>
          </a:xfrm>
          <a:prstGeom prst="roundRect">
            <a:avLst>
              <a:gd name="adj" fmla="val 1682"/>
            </a:avLst>
          </a:prstGeom>
          <a:solidFill>
            <a:srgbClr val="0A0E16"/>
          </a:solidFill>
          <a:ln w="12700">
            <a:solidFill>
              <a:srgbClr val="EFE9F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10" name="Shape 7"/>
          <p:cNvSpPr/>
          <p:nvPr/>
        </p:nvSpPr>
        <p:spPr>
          <a:xfrm>
            <a:off x="749808" y="1472184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1" name="Shape 8"/>
          <p:cNvSpPr/>
          <p:nvPr/>
        </p:nvSpPr>
        <p:spPr>
          <a:xfrm>
            <a:off x="905256" y="1472184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2" name="Shape 9"/>
          <p:cNvSpPr/>
          <p:nvPr/>
        </p:nvSpPr>
        <p:spPr>
          <a:xfrm>
            <a:off x="1060704" y="1472184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3" name="Text 10"/>
          <p:cNvSpPr/>
          <p:nvPr/>
        </p:nvSpPr>
        <p:spPr>
          <a:xfrm>
            <a:off x="1325880" y="1371600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belongsToMany + Eager Loading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49808" y="1709928"/>
            <a:ext cx="5724144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Post extends Model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tags()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return $this-&gt;belongsToMany(Tag::class); }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$post-&gt;tags()-&gt;attach([1, 2]); // ربط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$post-&gt;tags()-&gt;sync([2, 3]);   // مزامنة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7FB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المشكلة: 1 + N استعلاماً!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$posts = Post::all();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 ($posts as $p) { $p-&gt;user-&gt;name; }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7FB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الحل: استعلامان فقط مهما كان العدد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$posts = Post::with('user', 'tags')-&gt;get();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949440" y="1417320"/>
            <a:ext cx="4690872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 algn="r" rtl="1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علاقة </a:t>
            </a:r>
            <a:r>
              <a:rPr lang="en-US" sz="13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متعدد-لمتعدد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تحتاج جدولاً وسيطاً باسم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post_tag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بالاصطلاح.</a:t>
            </a:r>
            <a:endParaRPr lang="en-US" sz="1350" dirty="0"/>
          </a:p>
          <a:p>
            <a:pPr marL="165100" indent="-165100" algn="r" rtl="1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attach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تضيف و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detach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تفك و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sync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تجعل الروابط مطابقة للقائمة تماماً.</a:t>
            </a:r>
            <a:endParaRPr lang="en-US" sz="1350" dirty="0"/>
          </a:p>
          <a:p>
            <a:pPr marL="165100" indent="-165100" algn="r" rtl="1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N+1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أشهر قاتل أداء في Eloquent: استعلام لكل سجل داخل الحلقة.</a:t>
            </a:r>
            <a:endParaRPr lang="en-US" sz="1350" dirty="0"/>
          </a:p>
          <a:p>
            <a:pPr marL="165100" indent="-165100" algn="r" rtl="1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with()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تحمّل العلاقات مسبقاً — راقب استعلاماتك عبر </a:t>
            </a:r>
            <a:r>
              <a:rPr lang="en-US" sz="13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Telescope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أو Debugbar.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949440" y="5349240"/>
            <a:ext cx="469087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3A3F52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4824" y="5495544"/>
            <a:ext cx="237744" cy="23774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132320" y="5431536"/>
            <a:ext cx="3913632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C53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تلميح:  </a:t>
            </a:r>
            <a:r>
              <a:rPr lang="en-US" sz="12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فعّل </a:t>
            </a:r>
            <a:r>
              <a:rPr lang="en-US" sz="11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Model::preventLazyLoading()</a:t>
            </a:r>
            <a:r>
              <a:rPr lang="en-US" sz="12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في التطوير لكشف N+1 مبكراً.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30377304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581912" cy="310896"/>
          </a:xfrm>
          <a:prstGeom prst="roundRect">
            <a:avLst>
              <a:gd name="adj" fmla="val 50000"/>
            </a:avLst>
          </a:prstGeom>
          <a:solidFill>
            <a:srgbClr val="FFE4EA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11D4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قاعدة البيانات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1155680" y="384048"/>
            <a:ext cx="493776" cy="4937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4062" y="512430"/>
            <a:ext cx="237012" cy="2370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834640" y="310896"/>
            <a:ext cx="8183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70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منشئ الاستعلامات Query Builder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/ 35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784080" y="647395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8B84A3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دليل Laravel التقني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6309360" cy="4206240"/>
          </a:xfrm>
          <a:prstGeom prst="roundRect">
            <a:avLst>
              <a:gd name="adj" fmla="val 1957"/>
            </a:avLst>
          </a:prstGeom>
          <a:solidFill>
            <a:srgbClr val="0A0E16"/>
          </a:solidFill>
          <a:ln w="12700">
            <a:solidFill>
              <a:srgbClr val="EFE9F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10" name="Shape 7"/>
          <p:cNvSpPr/>
          <p:nvPr/>
        </p:nvSpPr>
        <p:spPr>
          <a:xfrm>
            <a:off x="749808" y="1472184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1" name="Shape 8"/>
          <p:cNvSpPr/>
          <p:nvPr/>
        </p:nvSpPr>
        <p:spPr>
          <a:xfrm>
            <a:off x="905256" y="1472184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2" name="Shape 9"/>
          <p:cNvSpPr/>
          <p:nvPr/>
        </p:nvSpPr>
        <p:spPr>
          <a:xfrm>
            <a:off x="1060704" y="1472184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3" name="Text 10"/>
          <p:cNvSpPr/>
          <p:nvPr/>
        </p:nvSpPr>
        <p:spPr>
          <a:xfrm>
            <a:off x="1325880" y="137160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تقرير مبيعات بواجهة سلسة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49808" y="1709928"/>
            <a:ext cx="5907024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Illuminate\Support\Facades\DB;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$revenue = DB::table('orders')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-&gt;join('users', 'users.id', '=',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'orders.user_id')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-&gt;where('total', '&gt;', 100)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-&gt;whereBetween('created_at', [$from, $to])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-&gt;select('users.name',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DB::raw('SUM(total) as revenue'))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-&gt;groupBy('users.name')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-&gt;orderByDesc('revenue')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-&gt;get();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132320" y="1417320"/>
            <a:ext cx="4507992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واجهة سلسة تبني SQL </a:t>
            </a:r>
            <a:r>
              <a:rPr lang="en-US" sz="13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آمناً بالكامل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: القيم تُمرر كـ Bindings ضد حقن SQL.</a:t>
            </a:r>
            <a:endParaRPr lang="en-US" sz="1350" dirty="0"/>
          </a:p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يعمل على أي جدول مباشرة دون الحاجة إلى نموذج Eloquent.</a:t>
            </a:r>
            <a:endParaRPr lang="en-US" sz="1350" dirty="0"/>
          </a:p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دوال تجميع جاهزة: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و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و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و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و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exists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.</a:t>
            </a:r>
            <a:endParaRPr lang="en-US" sz="1350" dirty="0"/>
          </a:p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بيانات ضخمة؟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chunk(1000, fn...)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تعالج ملايين السجلات دفعة دفعة دون استنزاف الذاكرة.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5735065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581912" cy="310896"/>
          </a:xfrm>
          <a:prstGeom prst="roundRect">
            <a:avLst>
              <a:gd name="adj" fmla="val 50000"/>
            </a:avLst>
          </a:prstGeom>
          <a:solidFill>
            <a:srgbClr val="FFE4EA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11D4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قاعدة البيانات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1155680" y="384048"/>
            <a:ext cx="493776" cy="4937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4062" y="512430"/>
            <a:ext cx="237012" cy="2370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834640" y="310896"/>
            <a:ext cx="8183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70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بيانات تجريبية: Factories و Seeders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/ 35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784080" y="647395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8B84A3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دليل Laravel التقني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6035040" cy="2606040"/>
          </a:xfrm>
          <a:prstGeom prst="roundRect">
            <a:avLst>
              <a:gd name="adj" fmla="val 3158"/>
            </a:avLst>
          </a:prstGeom>
          <a:solidFill>
            <a:srgbClr val="0A0E16"/>
          </a:solidFill>
          <a:ln w="12700">
            <a:solidFill>
              <a:srgbClr val="EFE9F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10" name="Shape 7"/>
          <p:cNvSpPr/>
          <p:nvPr/>
        </p:nvSpPr>
        <p:spPr>
          <a:xfrm>
            <a:off x="749808" y="1472184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1" name="Shape 8"/>
          <p:cNvSpPr/>
          <p:nvPr/>
        </p:nvSpPr>
        <p:spPr>
          <a:xfrm>
            <a:off x="905256" y="1472184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2" name="Shape 9"/>
          <p:cNvSpPr/>
          <p:nvPr/>
        </p:nvSpPr>
        <p:spPr>
          <a:xfrm>
            <a:off x="1060704" y="1472184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3" name="Text 10"/>
          <p:cNvSpPr/>
          <p:nvPr/>
        </p:nvSpPr>
        <p:spPr>
          <a:xfrm>
            <a:off x="1325880" y="1371600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database/factories/PostFactory.php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49808" y="1709928"/>
            <a:ext cx="563270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function definition(): array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[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'title'   =&gt; fake()-&gt;sentence(),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'body'    =&gt; fake()-&gt;paragraphs(3, true),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'user_id' =&gt; User::factory(),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];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4114800"/>
            <a:ext cx="6035040" cy="2103120"/>
          </a:xfrm>
          <a:prstGeom prst="roundRect">
            <a:avLst>
              <a:gd name="adj" fmla="val 3913"/>
            </a:avLst>
          </a:prstGeom>
          <a:solidFill>
            <a:srgbClr val="0A0E16"/>
          </a:solidFill>
          <a:ln w="12700">
            <a:solidFill>
              <a:srgbClr val="EFE9F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16" name="Shape 13"/>
          <p:cNvSpPr/>
          <p:nvPr/>
        </p:nvSpPr>
        <p:spPr>
          <a:xfrm>
            <a:off x="749808" y="4261104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7" name="Shape 14"/>
          <p:cNvSpPr/>
          <p:nvPr/>
        </p:nvSpPr>
        <p:spPr>
          <a:xfrm>
            <a:off x="905256" y="4261104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8" name="Shape 15"/>
          <p:cNvSpPr/>
          <p:nvPr/>
        </p:nvSpPr>
        <p:spPr>
          <a:xfrm>
            <a:off x="1060704" y="4261104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9" name="Text 16"/>
          <p:cNvSpPr/>
          <p:nvPr/>
        </p:nvSpPr>
        <p:spPr>
          <a:xfrm>
            <a:off x="1325880" y="4160520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database/seeders/DatabaseSeeder.php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49808" y="4498848"/>
            <a:ext cx="5632704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7FB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عشرة مستخدمين لكل منهم خمس مقالات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User::factory(10)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-&gt;has(Post::factory(5))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-&gt;create();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858000" y="1417320"/>
            <a:ext cx="4782312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 algn="r" rtl="1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ar-OM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مولد البيانات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تولّد </a:t>
            </a:r>
            <a:r>
              <a:rPr lang="en-US" sz="13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بيانات وهمية واقعية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عبر مكتبة Faker لكل نموذج.</a:t>
            </a:r>
            <a:endParaRPr lang="en-US" sz="1350" dirty="0"/>
          </a:p>
          <a:p>
            <a:pPr marL="165100" indent="-165100" algn="r" rtl="1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تدعم العربية: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fake('ar_SA')-&gt;name()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تعطيك أسماء عربية.</a:t>
            </a:r>
            <a:endParaRPr lang="en-US" sz="1350" dirty="0"/>
          </a:p>
          <a:p>
            <a:pPr marL="165100" indent="-165100" algn="r" rtl="1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 err="1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</a:t>
            </a:r>
            <a:r>
              <a:rPr lang="ar-OM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بيانات المبدئية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تملأ قاعدة التطوير بأمر واحد: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artisan db:seed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.</a:t>
            </a:r>
            <a:endParaRPr lang="en-US" sz="1350" dirty="0"/>
          </a:p>
          <a:p>
            <a:pPr marL="165100" indent="-165100" algn="r" rtl="1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الأساس الذي تُبنى عليه بيئة التطوير </a:t>
            </a:r>
            <a:r>
              <a:rPr lang="en-US" sz="13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والاختبارات الآلية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لاحقاً.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6858000" y="4892040"/>
            <a:ext cx="478231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3A3F52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4824" y="5038344"/>
            <a:ext cx="237744" cy="237744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040880" y="4974336"/>
            <a:ext cx="4005072" cy="1161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C53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تلميح:  </a:t>
            </a:r>
            <a:r>
              <a:rPr lang="en-US" sz="12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ابدأ يومك بقاعدة نظيفة: </a:t>
            </a:r>
            <a:r>
              <a:rPr lang="en-US" sz="11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artisan migrate:fresh --seed</a:t>
            </a:r>
            <a:r>
              <a:rPr lang="en-US" sz="12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تعيد كل شيء لحالة معلومة خلال ثوانٍ.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14661047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77924" cy="310896"/>
          </a:xfrm>
          <a:prstGeom prst="roundRect">
            <a:avLst>
              <a:gd name="adj" fmla="val 50000"/>
            </a:avLst>
          </a:prstGeom>
          <a:solidFill>
            <a:srgbClr val="FFE4EA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6779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11D4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الحماية والتحقق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1155680" y="384048"/>
            <a:ext cx="493776" cy="4937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4062" y="512430"/>
            <a:ext cx="237012" cy="2370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834640" y="310896"/>
            <a:ext cx="8183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70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التحقق من المدخلات Validation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/ 35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784080" y="647395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8B84A3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دليل Laravel التقني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6035040" cy="3291840"/>
          </a:xfrm>
          <a:prstGeom prst="roundRect">
            <a:avLst>
              <a:gd name="adj" fmla="val 2500"/>
            </a:avLst>
          </a:prstGeom>
          <a:solidFill>
            <a:srgbClr val="0A0E16"/>
          </a:solidFill>
          <a:ln w="12700">
            <a:solidFill>
              <a:srgbClr val="EFE9F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10" name="Shape 7"/>
          <p:cNvSpPr/>
          <p:nvPr/>
        </p:nvSpPr>
        <p:spPr>
          <a:xfrm>
            <a:off x="749808" y="1472184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1" name="Shape 8"/>
          <p:cNvSpPr/>
          <p:nvPr/>
        </p:nvSpPr>
        <p:spPr>
          <a:xfrm>
            <a:off x="905256" y="1472184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2" name="Shape 9"/>
          <p:cNvSpPr/>
          <p:nvPr/>
        </p:nvSpPr>
        <p:spPr>
          <a:xfrm>
            <a:off x="1060704" y="1472184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3" name="Text 10"/>
          <p:cNvSpPr/>
          <p:nvPr/>
        </p:nvSpPr>
        <p:spPr>
          <a:xfrm>
            <a:off x="1325880" y="1371600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داخل دالة store في المتحكم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49808" y="1709928"/>
            <a:ext cx="5632704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$validated = $request-&gt;validate([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'title' =&gt; ['required', 'string', 'max:120'],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'email' =&gt; ['required', 'email',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'unique:users'],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'price' =&gt; ['required', 'numeric', 'min:1'],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Post::create($validated);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4800600"/>
            <a:ext cx="6035040" cy="1371600"/>
          </a:xfrm>
          <a:prstGeom prst="roundRect">
            <a:avLst>
              <a:gd name="adj" fmla="val 6000"/>
            </a:avLst>
          </a:prstGeom>
          <a:solidFill>
            <a:srgbClr val="0A0E16"/>
          </a:solidFill>
          <a:ln w="12700">
            <a:solidFill>
              <a:srgbClr val="EFE9F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16" name="Shape 13"/>
          <p:cNvSpPr/>
          <p:nvPr/>
        </p:nvSpPr>
        <p:spPr>
          <a:xfrm>
            <a:off x="749808" y="4946904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7" name="Shape 14"/>
          <p:cNvSpPr/>
          <p:nvPr/>
        </p:nvSpPr>
        <p:spPr>
          <a:xfrm>
            <a:off x="905256" y="4946904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8" name="Shape 15"/>
          <p:cNvSpPr/>
          <p:nvPr/>
        </p:nvSpPr>
        <p:spPr>
          <a:xfrm>
            <a:off x="1060704" y="4946904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9" name="Text 16"/>
          <p:cNvSpPr/>
          <p:nvPr/>
        </p:nvSpPr>
        <p:spPr>
          <a:xfrm>
            <a:off x="1325880" y="4846320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 — لعزل القواعد في كلاس مستقل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49808" y="5184648"/>
            <a:ext cx="563270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artisan make:request StorePostRequest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function store(StorePostRequest $request)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858000" y="1417320"/>
            <a:ext cx="4782312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عند الفشل في الويب: إعادة توجيه تلقائية مع الأخطاء في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$errors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والمدخلات القديمة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old()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.</a:t>
            </a:r>
            <a:endParaRPr lang="en-US" sz="1350" dirty="0"/>
          </a:p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في الـ API: استجابة </a:t>
            </a:r>
            <a:r>
              <a:rPr lang="en-US" sz="13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JSON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برمز </a:t>
            </a:r>
            <a:r>
              <a:rPr lang="en-US" sz="13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422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تتضمن تفاصيل الأخطاء.</a:t>
            </a:r>
            <a:endParaRPr lang="en-US" sz="1350" dirty="0"/>
          </a:p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عشرات القواعد الجاهزة: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required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و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و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و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exists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و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confirmed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وغيرها.</a:t>
            </a:r>
            <a:endParaRPr lang="en-US" sz="1350" dirty="0"/>
          </a:p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Form Request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يعزل قواعد التحقق والتفويض في كلاس خاص — متحكمات أنظف.</a:t>
            </a:r>
            <a:endParaRPr lang="en-US" sz="1350" dirty="0"/>
          </a:p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رسائل عربية جاهزة عبر حزمة </a:t>
            </a:r>
            <a:r>
              <a:rPr lang="en-US" sz="13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Laravel-Lang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المجتمعية.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32294645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77924" cy="310896"/>
          </a:xfrm>
          <a:prstGeom prst="roundRect">
            <a:avLst>
              <a:gd name="adj" fmla="val 50000"/>
            </a:avLst>
          </a:prstGeom>
          <a:solidFill>
            <a:srgbClr val="FFE4EA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6779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11D4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الحماية والتحقق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1155680" y="384048"/>
            <a:ext cx="493776" cy="4937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4062" y="512430"/>
            <a:ext cx="237012" cy="2370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834640" y="310896"/>
            <a:ext cx="8183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70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الوسائط Middleware: طبقات الفحص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/ 35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784080" y="647395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8B84A3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دليل Laravel التقني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6126480" cy="3977640"/>
          </a:xfrm>
          <a:prstGeom prst="roundRect">
            <a:avLst>
              <a:gd name="adj" fmla="val 2069"/>
            </a:avLst>
          </a:prstGeom>
          <a:solidFill>
            <a:srgbClr val="0A0E16"/>
          </a:solidFill>
          <a:ln w="12700">
            <a:solidFill>
              <a:srgbClr val="EFE9F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10" name="Shape 7"/>
          <p:cNvSpPr/>
          <p:nvPr/>
        </p:nvSpPr>
        <p:spPr>
          <a:xfrm>
            <a:off x="749808" y="1472184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1" name="Shape 8"/>
          <p:cNvSpPr/>
          <p:nvPr/>
        </p:nvSpPr>
        <p:spPr>
          <a:xfrm>
            <a:off x="905256" y="1472184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2" name="Shape 9"/>
          <p:cNvSpPr/>
          <p:nvPr/>
        </p:nvSpPr>
        <p:spPr>
          <a:xfrm>
            <a:off x="1060704" y="1472184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3" name="Text 10"/>
          <p:cNvSpPr/>
          <p:nvPr/>
        </p:nvSpPr>
        <p:spPr>
          <a:xfrm>
            <a:off x="1325880" y="1371600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app/Http/Middleware/EnsureIsAdmin.php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49808" y="1709928"/>
            <a:ext cx="5724144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function handle(Request $request,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Closure $next): Response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 $request-&gt;user()?-&gt;is_admin) {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abort(403); // ممنوع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$next($request);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7FB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الاستخدام بعد تسجيل الاسم المستعار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Route::middleware('admin')-&gt;group(...);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949440" y="1417320"/>
            <a:ext cx="4690872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طبقات يمر بها الطلب </a:t>
            </a:r>
            <a:r>
              <a:rPr lang="en-US" sz="13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قبل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الوصول للمتحكم أو </a:t>
            </a:r>
            <a:r>
              <a:rPr lang="en-US" sz="13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بعد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الاستجابة — كنقاط تفتيش.</a:t>
            </a:r>
            <a:endParaRPr lang="en-US" sz="1350" dirty="0"/>
          </a:p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وسائط جاهزة: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و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guest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و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verified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و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throttle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لتحديد المعدل.</a:t>
            </a:r>
            <a:endParaRPr lang="en-US" sz="1350" dirty="0"/>
          </a:p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أنشئ وسيطك: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artisan make:middleware EnsureIsAdmin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.</a:t>
            </a:r>
            <a:endParaRPr lang="en-US" sz="1350" dirty="0"/>
          </a:p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تُسجَّل الأسماء المستعارة في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bootstrap/app.php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— البنية الحديثة منذ Laravel 11.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949440" y="5486400"/>
            <a:ext cx="4690872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3A3F52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4824" y="5632704"/>
            <a:ext cx="237744" cy="23774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132320" y="5568696"/>
            <a:ext cx="39136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C53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تلميح:  </a:t>
            </a:r>
            <a:r>
              <a:rPr lang="en-US" sz="11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throttle:60,1</a:t>
            </a:r>
            <a:r>
              <a:rPr lang="en-US" sz="12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تحمي مساراتك من الإغراق: 60 طلباً بالدقيقة.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19141024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77924" cy="310896"/>
          </a:xfrm>
          <a:prstGeom prst="roundRect">
            <a:avLst>
              <a:gd name="adj" fmla="val 50000"/>
            </a:avLst>
          </a:prstGeom>
          <a:solidFill>
            <a:srgbClr val="FFE4EA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6779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11D4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الحماية والتحقق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1155680" y="384048"/>
            <a:ext cx="493776" cy="4937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4062" y="512430"/>
            <a:ext cx="237012" cy="2370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834640" y="310896"/>
            <a:ext cx="8183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70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المصادقة Authentication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/ 35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784080" y="647395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8B84A3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دليل Laravel التقني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8640" y="128016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4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لا تبنِ شاشات الدخول من الصفر: </a:t>
            </a:r>
            <a:r>
              <a:rPr lang="en-US" sz="14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حِزم البداية Starter Kits</a:t>
            </a:r>
            <a:r>
              <a:rPr lang="en-US" sz="14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الرسمية (React أو Vue أو Livewire) تمنحك تسجيل الدخول والتسجيل وإعادة تعيين كلمة المرور والتحقق من البريد — جاهزة منذ الدقيقة الأولى.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48640" y="2240280"/>
            <a:ext cx="6126480" cy="3931920"/>
          </a:xfrm>
          <a:prstGeom prst="roundRect">
            <a:avLst>
              <a:gd name="adj" fmla="val 2093"/>
            </a:avLst>
          </a:prstGeom>
          <a:solidFill>
            <a:srgbClr val="0A0E16"/>
          </a:solidFill>
          <a:ln w="12700">
            <a:solidFill>
              <a:srgbClr val="EFE9F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11" name="Shape 8"/>
          <p:cNvSpPr/>
          <p:nvPr/>
        </p:nvSpPr>
        <p:spPr>
          <a:xfrm>
            <a:off x="749808" y="2386584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2" name="Shape 9"/>
          <p:cNvSpPr/>
          <p:nvPr/>
        </p:nvSpPr>
        <p:spPr>
          <a:xfrm>
            <a:off x="905256" y="2386584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3" name="Shape 10"/>
          <p:cNvSpPr/>
          <p:nvPr/>
        </p:nvSpPr>
        <p:spPr>
          <a:xfrm>
            <a:off x="1060704" y="2386584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4" name="Text 11"/>
          <p:cNvSpPr/>
          <p:nvPr/>
        </p:nvSpPr>
        <p:spPr>
          <a:xfrm>
            <a:off x="1325880" y="2286000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التعامل مع المستخدم الحالي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49808" y="2624328"/>
            <a:ext cx="5724144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7FB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المستخدم المسجل حالياً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$user = auth()-&gt;user();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$id   = Auth::id();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7FB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حماية مسار كامل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Route::get('/profile', ...)-&gt;middleware('auth');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7FB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تسجيل دخول يدوي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(Auth::attempt(['email' =&gt; $email,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'password' =&gt; $password])) {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$request-&gt;session()-&gt;regenerate();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redirect()-&gt;intended('/dashboard');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949440" y="2331720"/>
            <a:ext cx="4690872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الويب يعتمد </a:t>
            </a:r>
            <a:r>
              <a:rPr lang="en-US" sz="13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الجلسات Sessions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عبر الحارس الافتراضي، والـ API يعتمد </a:t>
            </a:r>
            <a:r>
              <a:rPr lang="en-US" sz="13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Sanctum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.</a:t>
            </a:r>
            <a:endParaRPr lang="en-US" sz="1350" dirty="0"/>
          </a:p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كلمات المرور تُخزن مشفرة تلقائياً بـ </a:t>
            </a:r>
            <a:r>
              <a:rPr lang="en-US" sz="13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bcrypt/argon2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— لا نص صريح أبداً.</a:t>
            </a:r>
            <a:endParaRPr lang="en-US" sz="1350" dirty="0"/>
          </a:p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Fortify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يوفر منطق المصادقة للواجهة الخلفية إن أردت بناء واجهتك بنفسك.</a:t>
            </a:r>
            <a:endParaRPr lang="en-US" sz="1350" dirty="0"/>
          </a:p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regenerate()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بعد الدخول تحمي من هجمات </a:t>
            </a:r>
            <a:r>
              <a:rPr lang="en-US" sz="13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تثبيت الجلسة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4868720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77924" cy="310896"/>
          </a:xfrm>
          <a:prstGeom prst="roundRect">
            <a:avLst>
              <a:gd name="adj" fmla="val 50000"/>
            </a:avLst>
          </a:prstGeom>
          <a:solidFill>
            <a:srgbClr val="FFE4EA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6779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11D4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الحماية والتحقق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1155680" y="384048"/>
            <a:ext cx="493776" cy="4937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4062" y="512430"/>
            <a:ext cx="237012" cy="2370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834640" y="310896"/>
            <a:ext cx="8183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70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التفويض: Gates و Policies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 / 35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784080" y="647395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8B84A3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دليل Laravel التقني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6126480" cy="4480560"/>
          </a:xfrm>
          <a:prstGeom prst="roundRect">
            <a:avLst>
              <a:gd name="adj" fmla="val 1837"/>
            </a:avLst>
          </a:prstGeom>
          <a:solidFill>
            <a:srgbClr val="0A0E16"/>
          </a:solidFill>
          <a:ln w="12700">
            <a:solidFill>
              <a:srgbClr val="EFE9F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10" name="Shape 7"/>
          <p:cNvSpPr/>
          <p:nvPr/>
        </p:nvSpPr>
        <p:spPr>
          <a:xfrm>
            <a:off x="749808" y="1472184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1" name="Shape 8"/>
          <p:cNvSpPr/>
          <p:nvPr/>
        </p:nvSpPr>
        <p:spPr>
          <a:xfrm>
            <a:off x="905256" y="1472184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2" name="Shape 9"/>
          <p:cNvSpPr/>
          <p:nvPr/>
        </p:nvSpPr>
        <p:spPr>
          <a:xfrm>
            <a:off x="1060704" y="1472184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3" name="Text 10"/>
          <p:cNvSpPr/>
          <p:nvPr/>
        </p:nvSpPr>
        <p:spPr>
          <a:xfrm>
            <a:off x="1325880" y="1371600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app/Policies/PostPolicy.php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49808" y="1709928"/>
            <a:ext cx="5724144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function update(User $user,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Post $post): bool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$user-&gt;id === $post-&gt;user_id;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7FB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في المتحكم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Gate::authorize('update', $post);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7FB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في قالب Blade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@can('update', $post)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 href="..."&gt;تعديل&lt;/a&gt;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@endcan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949440" y="1417320"/>
            <a:ext cx="4690872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المصادقة تجيب «من أنت؟» — والتفويض يجيب «</a:t>
            </a:r>
            <a:r>
              <a:rPr lang="en-US" sz="13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ماذا يحق لك؟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».</a:t>
            </a:r>
            <a:endParaRPr lang="en-US" sz="1350" dirty="0"/>
          </a:p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Gates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لقواعد عامة بسيطة، و </a:t>
            </a:r>
            <a:r>
              <a:rPr lang="en-US" sz="13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Policies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كلاس منظم لكل نموذج.</a:t>
            </a:r>
            <a:endParaRPr lang="en-US" sz="1350" dirty="0"/>
          </a:p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أنشئها بأمر: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artisan make:policy PostPolicy --model=Post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وتُكتشف تلقائياً بالاصطلاح.</a:t>
            </a:r>
            <a:endParaRPr lang="en-US" sz="1350" dirty="0"/>
          </a:p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عند الرفض يعيد Laravel استجابة </a:t>
            </a:r>
            <a:r>
              <a:rPr lang="en-US" sz="13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403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تلقائياً دون شرط يدوي.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31400825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89888" cy="310896"/>
          </a:xfrm>
          <a:prstGeom prst="roundRect">
            <a:avLst>
              <a:gd name="adj" fmla="val 50000"/>
            </a:avLst>
          </a:prstGeom>
          <a:solidFill>
            <a:srgbClr val="FFE4EA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11D4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بناء الـ API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1155680" y="384048"/>
            <a:ext cx="493776" cy="4937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4062" y="512430"/>
            <a:ext cx="237012" cy="2370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834640" y="310896"/>
            <a:ext cx="8183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70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بناء REST API وتنسيق الاستجابات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/ 35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784080" y="647395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8B84A3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دليل Laravel التقني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6126480" cy="1965960"/>
          </a:xfrm>
          <a:prstGeom prst="roundRect">
            <a:avLst>
              <a:gd name="adj" fmla="val 4186"/>
            </a:avLst>
          </a:prstGeom>
          <a:solidFill>
            <a:srgbClr val="0A0E16"/>
          </a:solidFill>
          <a:ln w="12700">
            <a:solidFill>
              <a:srgbClr val="EFE9F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10" name="Shape 7"/>
          <p:cNvSpPr/>
          <p:nvPr/>
        </p:nvSpPr>
        <p:spPr>
          <a:xfrm>
            <a:off x="749808" y="1472184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1" name="Shape 8"/>
          <p:cNvSpPr/>
          <p:nvPr/>
        </p:nvSpPr>
        <p:spPr>
          <a:xfrm>
            <a:off x="905256" y="1472184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2" name="Shape 9"/>
          <p:cNvSpPr/>
          <p:nvPr/>
        </p:nvSpPr>
        <p:spPr>
          <a:xfrm>
            <a:off x="1060704" y="1472184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3" name="Text 10"/>
          <p:cNvSpPr/>
          <p:nvPr/>
        </p:nvSpPr>
        <p:spPr>
          <a:xfrm>
            <a:off x="1325880" y="1371600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routes/api.php — البادئة /api تلقائياً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49808" y="1709928"/>
            <a:ext cx="572414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Route::apiResource('posts',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PostApiController::class);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7FB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index, store, show, update, destroy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3474720"/>
            <a:ext cx="6126480" cy="2743200"/>
          </a:xfrm>
          <a:prstGeom prst="roundRect">
            <a:avLst>
              <a:gd name="adj" fmla="val 3000"/>
            </a:avLst>
          </a:prstGeom>
          <a:solidFill>
            <a:srgbClr val="0A0E16"/>
          </a:solidFill>
          <a:ln w="12700">
            <a:solidFill>
              <a:srgbClr val="EFE9F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16" name="Shape 13"/>
          <p:cNvSpPr/>
          <p:nvPr/>
        </p:nvSpPr>
        <p:spPr>
          <a:xfrm>
            <a:off x="749808" y="3621024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7" name="Shape 14"/>
          <p:cNvSpPr/>
          <p:nvPr/>
        </p:nvSpPr>
        <p:spPr>
          <a:xfrm>
            <a:off x="905256" y="3621024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8" name="Shape 15"/>
          <p:cNvSpPr/>
          <p:nvPr/>
        </p:nvSpPr>
        <p:spPr>
          <a:xfrm>
            <a:off x="1060704" y="3621024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9" name="Text 16"/>
          <p:cNvSpPr/>
          <p:nvPr/>
        </p:nvSpPr>
        <p:spPr>
          <a:xfrm>
            <a:off x="1325880" y="3520440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app/Http/Resources/PostResource.php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49808" y="3858768"/>
            <a:ext cx="5724144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function toArray(Request $request): array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[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'id'     =&gt; $this-&gt;id,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'title'  =&gt; $this-&gt;title,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'author' =&gt; new UserResource(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$this-&gt;whenLoaded('user')),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];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949440" y="1417320"/>
            <a:ext cx="469087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فعّل ملف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api.php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أولاً بأمر واحد: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artisan install:api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.</a:t>
            </a:r>
            <a:endParaRPr lang="en-US" sz="1350" dirty="0"/>
          </a:p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apiResource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مثل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لكن </a:t>
            </a:r>
            <a:r>
              <a:rPr lang="en-US" sz="13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دون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صفحتي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و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.</a:t>
            </a:r>
            <a:endParaRPr lang="en-US" sz="1350" dirty="0"/>
          </a:p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API Resources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طبقة تفصل شكل الـ JSON عن بنية الجدول — عقدك مع العميل.</a:t>
            </a:r>
            <a:endParaRPr lang="en-US" sz="1350" dirty="0"/>
          </a:p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whenLoaded()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تضمّن العلاقة فقط إن حُمّلت — تكامل أنيق مع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with()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.</a:t>
            </a:r>
            <a:endParaRPr lang="en-US" sz="1350" dirty="0"/>
          </a:p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الترقيم عبر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paginate()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يرجع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و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links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و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جاهزة.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32836216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89888" cy="310896"/>
          </a:xfrm>
          <a:prstGeom prst="roundRect">
            <a:avLst>
              <a:gd name="adj" fmla="val 50000"/>
            </a:avLst>
          </a:prstGeom>
          <a:solidFill>
            <a:srgbClr val="FFE4EA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11D4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بناء الـ API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1155680" y="384048"/>
            <a:ext cx="493776" cy="4937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4062" y="512430"/>
            <a:ext cx="237012" cy="2370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834640" y="310896"/>
            <a:ext cx="8183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70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حماية الـ API مع Sanctum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 / 35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784080" y="647395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8B84A3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دليل Laravel التقني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6126480" cy="3063240"/>
          </a:xfrm>
          <a:prstGeom prst="roundRect">
            <a:avLst>
              <a:gd name="adj" fmla="val 2687"/>
            </a:avLst>
          </a:prstGeom>
          <a:solidFill>
            <a:srgbClr val="0A0E16"/>
          </a:solidFill>
          <a:ln w="12700">
            <a:solidFill>
              <a:srgbClr val="EFE9F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10" name="Shape 7"/>
          <p:cNvSpPr/>
          <p:nvPr/>
        </p:nvSpPr>
        <p:spPr>
          <a:xfrm>
            <a:off x="749808" y="1472184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1" name="Shape 8"/>
          <p:cNvSpPr/>
          <p:nvPr/>
        </p:nvSpPr>
        <p:spPr>
          <a:xfrm>
            <a:off x="905256" y="1472184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2" name="Shape 9"/>
          <p:cNvSpPr/>
          <p:nvPr/>
        </p:nvSpPr>
        <p:spPr>
          <a:xfrm>
            <a:off x="1060704" y="1472184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3" name="Text 10"/>
          <p:cNvSpPr/>
          <p:nvPr/>
        </p:nvSpPr>
        <p:spPr>
          <a:xfrm>
            <a:off x="1325880" y="1371600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إصدار Token وحماية المسارات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49808" y="1709928"/>
            <a:ext cx="5724144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7FB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عند تسجيل الدخول من التطبيق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$token = $user-&gt;createToken('mobile-app')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-&gt;plainTextToken;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Route::middleware('auth:sanctum')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-&gt;group(function () {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Route::get('/user',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fn (Request $r) =&gt; $r-&gt;user());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4572000"/>
            <a:ext cx="6126480" cy="1417320"/>
          </a:xfrm>
          <a:prstGeom prst="roundRect">
            <a:avLst>
              <a:gd name="adj" fmla="val 5806"/>
            </a:avLst>
          </a:prstGeom>
          <a:solidFill>
            <a:srgbClr val="0A0E16"/>
          </a:solidFill>
          <a:ln w="12700">
            <a:solidFill>
              <a:srgbClr val="EFE9F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16" name="Shape 13"/>
          <p:cNvSpPr/>
          <p:nvPr/>
        </p:nvSpPr>
        <p:spPr>
          <a:xfrm>
            <a:off x="749808" y="4718304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7" name="Shape 14"/>
          <p:cNvSpPr/>
          <p:nvPr/>
        </p:nvSpPr>
        <p:spPr>
          <a:xfrm>
            <a:off x="905256" y="4718304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8" name="Shape 15"/>
          <p:cNvSpPr/>
          <p:nvPr/>
        </p:nvSpPr>
        <p:spPr>
          <a:xfrm>
            <a:off x="1060704" y="4718304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9" name="Text 16"/>
          <p:cNvSpPr/>
          <p:nvPr/>
        </p:nvSpPr>
        <p:spPr>
          <a:xfrm>
            <a:off x="1325880" y="4617720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 — الاستهلاك من أي عميل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49808" y="4956048"/>
            <a:ext cx="572414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1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https://api.shop.test/api/user \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-H "Authorization: Bearer 1|xY9..."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949440" y="1417320"/>
            <a:ext cx="469087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توثيق </a:t>
            </a:r>
            <a:r>
              <a:rPr lang="en-US" sz="13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خفيف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بنمطين: رموز </a:t>
            </a:r>
            <a:r>
              <a:rPr lang="en-US" sz="13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Tokens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لتطبيقات الموبايل، وكوكيز الجلسة لتطبيقات </a:t>
            </a:r>
            <a:r>
              <a:rPr lang="en-US" sz="13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SPA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.</a:t>
            </a:r>
            <a:endParaRPr lang="en-US" sz="1350" dirty="0"/>
          </a:p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الرمز يُعرض </a:t>
            </a:r>
            <a:r>
              <a:rPr lang="en-US" sz="13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مرة واحدة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فقط عند إنشائه — ويُخزن مشفراً في قاعدة البيانات.</a:t>
            </a:r>
            <a:endParaRPr lang="en-US" sz="1350" dirty="0"/>
          </a:p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قيّد الصلاحيات لكل رمز عبر </a:t>
            </a:r>
            <a:r>
              <a:rPr lang="en-US" sz="13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Abilities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: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createToken('app', ['orders:read'])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.</a:t>
            </a:r>
            <a:endParaRPr lang="en-US" sz="1350" dirty="0"/>
          </a:p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الإلغاء فوري: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$user-&gt;tokens()-&gt;delete()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يسجّل الخروج من كل الأجهزة.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29183856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89888" cy="310896"/>
          </a:xfrm>
          <a:prstGeom prst="roundRect">
            <a:avLst>
              <a:gd name="adj" fmla="val 50000"/>
            </a:avLst>
          </a:prstGeom>
          <a:solidFill>
            <a:srgbClr val="FFE4EA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11D4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خدمات الإطار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1155680" y="384048"/>
            <a:ext cx="493776" cy="4937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4062" y="512430"/>
            <a:ext cx="237012" cy="2370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834640" y="310896"/>
            <a:ext cx="8183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70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التخزين والملفات Storage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 / 35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784080" y="647395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8B84A3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دليل Laravel التقني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6126480" cy="3291840"/>
          </a:xfrm>
          <a:prstGeom prst="roundRect">
            <a:avLst>
              <a:gd name="adj" fmla="val 2500"/>
            </a:avLst>
          </a:prstGeom>
          <a:solidFill>
            <a:srgbClr val="0A0E16"/>
          </a:solidFill>
          <a:ln w="12700">
            <a:solidFill>
              <a:srgbClr val="EFE9F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10" name="Shape 7"/>
          <p:cNvSpPr/>
          <p:nvPr/>
        </p:nvSpPr>
        <p:spPr>
          <a:xfrm>
            <a:off x="749808" y="1472184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1" name="Shape 8"/>
          <p:cNvSpPr/>
          <p:nvPr/>
        </p:nvSpPr>
        <p:spPr>
          <a:xfrm>
            <a:off x="905256" y="1472184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2" name="Shape 9"/>
          <p:cNvSpPr/>
          <p:nvPr/>
        </p:nvSpPr>
        <p:spPr>
          <a:xfrm>
            <a:off x="1060704" y="1472184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3" name="Text 10"/>
          <p:cNvSpPr/>
          <p:nvPr/>
        </p:nvSpPr>
        <p:spPr>
          <a:xfrm>
            <a:off x="1325880" y="1371600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رفع وإدارة الملفات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49808" y="1709928"/>
            <a:ext cx="5724144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7FB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رفع صورة من نموذج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$path = $request-&gt;file('avatar')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-&gt;store('avatars', 'public');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7FB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الكتابة على أي قرص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Storage::disk('s3')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-&gt;put('reports/june.pdf', $content);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$url = Storage::url($path);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Storage::delete($path);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4800600"/>
            <a:ext cx="6126480" cy="1234440"/>
          </a:xfrm>
          <a:prstGeom prst="roundRect">
            <a:avLst>
              <a:gd name="adj" fmla="val 6667"/>
            </a:avLst>
          </a:prstGeom>
          <a:solidFill>
            <a:srgbClr val="0A0E16"/>
          </a:solidFill>
          <a:ln w="12700">
            <a:solidFill>
              <a:srgbClr val="EFE9F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16" name="Shape 13"/>
          <p:cNvSpPr/>
          <p:nvPr/>
        </p:nvSpPr>
        <p:spPr>
          <a:xfrm>
            <a:off x="749808" y="4946904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7" name="Shape 14"/>
          <p:cNvSpPr/>
          <p:nvPr/>
        </p:nvSpPr>
        <p:spPr>
          <a:xfrm>
            <a:off x="905256" y="4946904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8" name="Shape 15"/>
          <p:cNvSpPr/>
          <p:nvPr/>
        </p:nvSpPr>
        <p:spPr>
          <a:xfrm>
            <a:off x="1060704" y="4946904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9" name="Text 16"/>
          <p:cNvSpPr/>
          <p:nvPr/>
        </p:nvSpPr>
        <p:spPr>
          <a:xfrm>
            <a:off x="1325880" y="4846320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49808" y="5184648"/>
            <a:ext cx="572414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artisan storage:link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949440" y="1417320"/>
            <a:ext cx="469087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أقراص Disks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معرفة في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config/filesystems.php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: محلي، عام، و </a:t>
            </a:r>
            <a:r>
              <a:rPr lang="en-US" sz="13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S3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السحابي.</a:t>
            </a:r>
            <a:endParaRPr lang="en-US" sz="1350" dirty="0"/>
          </a:p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واجهة موحدة: انتقل من التخزين المحلي إلى S3 </a:t>
            </a:r>
            <a:r>
              <a:rPr lang="en-US" sz="13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بتغيير الإعداد فقط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— الكود لا يتغير.</a:t>
            </a:r>
            <a:endParaRPr lang="en-US" sz="1350" dirty="0"/>
          </a:p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storage:link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ينشئ رابطاً من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public/storage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إلى ملفاتك العامة.</a:t>
            </a:r>
            <a:endParaRPr lang="en-US" sz="1350" dirty="0"/>
          </a:p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أسماء الملفات المرفوعة تُولّد </a:t>
            </a:r>
            <a:r>
              <a:rPr lang="en-US" sz="13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عشوائياً فريدة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تلقائياً لتجنب التعارض.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20915031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89888" cy="310896"/>
          </a:xfrm>
          <a:prstGeom prst="roundRect">
            <a:avLst>
              <a:gd name="adj" fmla="val 50000"/>
            </a:avLst>
          </a:prstGeom>
          <a:solidFill>
            <a:srgbClr val="FFE4EA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11D4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خدمات الإطار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1155680" y="384048"/>
            <a:ext cx="493776" cy="4937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4062" y="512430"/>
            <a:ext cx="237012" cy="2370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834640" y="310896"/>
            <a:ext cx="8183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70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البريد Mail والإشعارات Notifications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 / 35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784080" y="647395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8B84A3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دليل Laravel التقني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6126480" cy="3108960"/>
          </a:xfrm>
          <a:prstGeom prst="roundRect">
            <a:avLst>
              <a:gd name="adj" fmla="val 2647"/>
            </a:avLst>
          </a:prstGeom>
          <a:solidFill>
            <a:srgbClr val="0A0E16"/>
          </a:solidFill>
          <a:ln w="12700">
            <a:solidFill>
              <a:srgbClr val="EFE9F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10" name="Shape 7"/>
          <p:cNvSpPr/>
          <p:nvPr/>
        </p:nvSpPr>
        <p:spPr>
          <a:xfrm>
            <a:off x="749808" y="1472184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1" name="Shape 8"/>
          <p:cNvSpPr/>
          <p:nvPr/>
        </p:nvSpPr>
        <p:spPr>
          <a:xfrm>
            <a:off x="905256" y="1472184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2" name="Shape 9"/>
          <p:cNvSpPr/>
          <p:nvPr/>
        </p:nvSpPr>
        <p:spPr>
          <a:xfrm>
            <a:off x="1060704" y="1472184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3" name="Text 10"/>
          <p:cNvSpPr/>
          <p:nvPr/>
        </p:nvSpPr>
        <p:spPr>
          <a:xfrm>
            <a:off x="1325880" y="1371600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إرسال بريد وإشعار متعدد القنوات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49808" y="1709928"/>
            <a:ext cx="5724144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7FB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رسالة بريد لكائن Mailable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Mail::to($user)-&gt;send(new OrderShipped($order));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7FB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إشعار عبر أكثر من قناة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$user-&gt;notify(new InvoicePaid($invoice));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function via($notifiable): array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['mail', 'database'];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4617720"/>
            <a:ext cx="6126480" cy="1417320"/>
          </a:xfrm>
          <a:prstGeom prst="roundRect">
            <a:avLst>
              <a:gd name="adj" fmla="val 5806"/>
            </a:avLst>
          </a:prstGeom>
          <a:solidFill>
            <a:srgbClr val="0A0E16"/>
          </a:solidFill>
          <a:ln w="12700">
            <a:solidFill>
              <a:srgbClr val="EFE9F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16" name="Shape 13"/>
          <p:cNvSpPr/>
          <p:nvPr/>
        </p:nvSpPr>
        <p:spPr>
          <a:xfrm>
            <a:off x="749808" y="4764024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7" name="Shape 14"/>
          <p:cNvSpPr/>
          <p:nvPr/>
        </p:nvSpPr>
        <p:spPr>
          <a:xfrm>
            <a:off x="905256" y="4764024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8" name="Shape 15"/>
          <p:cNvSpPr/>
          <p:nvPr/>
        </p:nvSpPr>
        <p:spPr>
          <a:xfrm>
            <a:off x="1060704" y="4764024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9" name="Text 16"/>
          <p:cNvSpPr/>
          <p:nvPr/>
        </p:nvSpPr>
        <p:spPr>
          <a:xfrm>
            <a:off x="1325880" y="4663440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49808" y="5001768"/>
            <a:ext cx="572414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15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artisan make:mail OrderShipped \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--markdown=emails.orders.shipped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949440" y="1417320"/>
            <a:ext cx="469087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لكل رسالة كلاس </a:t>
            </a:r>
            <a:r>
              <a:rPr lang="en-US" sz="13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Mailable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مستقل، وقالبها Blade أو </a:t>
            </a:r>
            <a:r>
              <a:rPr lang="en-US" sz="13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Markdown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بتنسيق جاهز أنيق.</a:t>
            </a:r>
            <a:endParaRPr lang="en-US" sz="1350" dirty="0"/>
          </a:p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جرّب محلياً بأمان عبر </a:t>
            </a:r>
            <a:r>
              <a:rPr lang="en-US" sz="13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Mailpit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أو مشغل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— لا رسائل حقيقية تُرسل.</a:t>
            </a:r>
            <a:endParaRPr lang="en-US" sz="1350" dirty="0"/>
          </a:p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الإشعارات قنوات متعددة: بريد، </a:t>
            </a:r>
            <a:r>
              <a:rPr lang="en-US" sz="13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قاعدة بيانات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(لأجراس التطبيق)، Slack، و SMS.</a:t>
            </a:r>
            <a:endParaRPr lang="en-US" sz="1350" dirty="0"/>
          </a:p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اجعلها غير متزامنة بإضافة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implements ShouldQueue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— فلا تبطئ الطلب.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27571154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89888" cy="310896"/>
          </a:xfrm>
          <a:prstGeom prst="roundRect">
            <a:avLst>
              <a:gd name="adj" fmla="val 50000"/>
            </a:avLst>
          </a:prstGeom>
          <a:solidFill>
            <a:srgbClr val="FFE4EA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11D4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خدمات الإطار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1155680" y="384048"/>
            <a:ext cx="493776" cy="4937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4062" y="512430"/>
            <a:ext cx="237012" cy="2370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834640" y="310896"/>
            <a:ext cx="8183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70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الطوابير Queues: أعمال خلف الكواليس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 / 35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784080" y="647395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8B84A3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دليل Laravel التقني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6126480" cy="3520440"/>
          </a:xfrm>
          <a:prstGeom prst="roundRect">
            <a:avLst>
              <a:gd name="adj" fmla="val 2338"/>
            </a:avLst>
          </a:prstGeom>
          <a:solidFill>
            <a:srgbClr val="0A0E16"/>
          </a:solidFill>
          <a:ln w="12700">
            <a:solidFill>
              <a:srgbClr val="EFE9F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10" name="Shape 7"/>
          <p:cNvSpPr/>
          <p:nvPr/>
        </p:nvSpPr>
        <p:spPr>
          <a:xfrm>
            <a:off x="749808" y="1472184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1" name="Shape 8"/>
          <p:cNvSpPr/>
          <p:nvPr/>
        </p:nvSpPr>
        <p:spPr>
          <a:xfrm>
            <a:off x="905256" y="1472184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2" name="Shape 9"/>
          <p:cNvSpPr/>
          <p:nvPr/>
        </p:nvSpPr>
        <p:spPr>
          <a:xfrm>
            <a:off x="1060704" y="1472184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3" name="Text 10"/>
          <p:cNvSpPr/>
          <p:nvPr/>
        </p:nvSpPr>
        <p:spPr>
          <a:xfrm>
            <a:off x="1325880" y="1371600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app/Jobs/ProcessPayment.php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49808" y="1709928"/>
            <a:ext cx="5724144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ProcessPayment implements ShouldQueue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 Queueable;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__construct(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public Order $order) {}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handle(): void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7FB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عملية ثقيلة تنفذ بالخلفية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ProcessPayment::dispatch($order);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5029200"/>
            <a:ext cx="6126480" cy="1097280"/>
          </a:xfrm>
          <a:prstGeom prst="roundRect">
            <a:avLst>
              <a:gd name="adj" fmla="val 7500"/>
            </a:avLst>
          </a:prstGeom>
          <a:solidFill>
            <a:srgbClr val="0A0E16"/>
          </a:solidFill>
          <a:ln w="12700">
            <a:solidFill>
              <a:srgbClr val="EFE9F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16" name="Shape 13"/>
          <p:cNvSpPr/>
          <p:nvPr/>
        </p:nvSpPr>
        <p:spPr>
          <a:xfrm>
            <a:off x="749808" y="5175504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7" name="Shape 14"/>
          <p:cNvSpPr/>
          <p:nvPr/>
        </p:nvSpPr>
        <p:spPr>
          <a:xfrm>
            <a:off x="905256" y="5175504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8" name="Shape 15"/>
          <p:cNvSpPr/>
          <p:nvPr/>
        </p:nvSpPr>
        <p:spPr>
          <a:xfrm>
            <a:off x="1060704" y="5175504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9" name="Text 16"/>
          <p:cNvSpPr/>
          <p:nvPr/>
        </p:nvSpPr>
        <p:spPr>
          <a:xfrm>
            <a:off x="1325880" y="5074920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49808" y="5413248"/>
            <a:ext cx="572414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artisan queue:work --tries=3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949440" y="1417320"/>
            <a:ext cx="469087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انقل البطيء خارج دورة الطلب: البريد، معالجة الصور، التقارير، واستدعاءات API الخارجية.</a:t>
            </a:r>
            <a:endParaRPr lang="en-US" sz="1350" dirty="0"/>
          </a:p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مشغلات متعددة: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للبداية، و </a:t>
            </a:r>
            <a:r>
              <a:rPr lang="en-US" sz="13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Redis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للإنتاج، و SQS سحابياً.</a:t>
            </a:r>
            <a:endParaRPr lang="en-US" sz="1350" dirty="0"/>
          </a:p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المهام الفاشلة تُسجل في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failed_jobs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ويعاد تشغيلها عبر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queue:retry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.</a:t>
            </a:r>
            <a:endParaRPr lang="en-US" sz="1350" dirty="0"/>
          </a:p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راقب طوابير Redis بلوحة </a:t>
            </a:r>
            <a:r>
              <a:rPr lang="en-US" sz="13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Horizon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الرسمية: معدلات، أخطاء، وأزمنة تنفيذ.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27199977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89888" cy="310896"/>
          </a:xfrm>
          <a:prstGeom prst="roundRect">
            <a:avLst>
              <a:gd name="adj" fmla="val 50000"/>
            </a:avLst>
          </a:prstGeom>
          <a:solidFill>
            <a:srgbClr val="FFE4EA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11D4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خدمات الإطار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1155680" y="384048"/>
            <a:ext cx="493776" cy="4937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4062" y="512430"/>
            <a:ext cx="237012" cy="2370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834640" y="310896"/>
            <a:ext cx="8183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70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الأحداث Events والمستمعون Listeners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/ 35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784080" y="647395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8B84A3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دليل Laravel التقني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6126480" cy="3977640"/>
          </a:xfrm>
          <a:prstGeom prst="roundRect">
            <a:avLst>
              <a:gd name="adj" fmla="val 2069"/>
            </a:avLst>
          </a:prstGeom>
          <a:solidFill>
            <a:srgbClr val="0A0E16"/>
          </a:solidFill>
          <a:ln w="12700">
            <a:solidFill>
              <a:srgbClr val="EFE9F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10" name="Shape 7"/>
          <p:cNvSpPr/>
          <p:nvPr/>
        </p:nvSpPr>
        <p:spPr>
          <a:xfrm>
            <a:off x="749808" y="1472184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1" name="Shape 8"/>
          <p:cNvSpPr/>
          <p:nvPr/>
        </p:nvSpPr>
        <p:spPr>
          <a:xfrm>
            <a:off x="905256" y="1472184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2" name="Shape 9"/>
          <p:cNvSpPr/>
          <p:nvPr/>
        </p:nvSpPr>
        <p:spPr>
          <a:xfrm>
            <a:off x="1060704" y="1472184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3" name="Text 10"/>
          <p:cNvSpPr/>
          <p:nvPr/>
        </p:nvSpPr>
        <p:spPr>
          <a:xfrm>
            <a:off x="1325880" y="1371600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حدث واحد — ردود فعل متعددة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49808" y="1709928"/>
            <a:ext cx="5724144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7FB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عند إتمام الطلب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OrderPlaced::dispatch($order);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7FB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مستمع يكتشف تلقائياً عبر type-hint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SendOrderReceipt implements ShouldQueue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handle(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OrderPlaced $event): void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Mail::to($event-&gt;order-&gt;user)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-&gt;send(new ReceiptMail($event-&gt;order));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949440" y="1417320"/>
            <a:ext cx="4690872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افصل «</a:t>
            </a:r>
            <a:r>
              <a:rPr lang="en-US" sz="13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ما حدث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» عن «</a:t>
            </a:r>
            <a:r>
              <a:rPr lang="en-US" sz="13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ماذا نفعل حياله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»: إيصال، إشعار، تحديث مخزون — دون تكديس المتحكم.</a:t>
            </a:r>
            <a:endParaRPr lang="en-US" sz="1350" dirty="0"/>
          </a:p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التوليد: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make:event OrderPlaced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ثم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make:listener --event=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.</a:t>
            </a:r>
            <a:endParaRPr lang="en-US" sz="1350" dirty="0"/>
          </a:p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المستمعون يُكتشفون </a:t>
            </a:r>
            <a:r>
              <a:rPr lang="en-US" sz="13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تلقائياً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من نوع المعامل في دالة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.</a:t>
            </a:r>
            <a:endParaRPr lang="en-US" sz="1350" dirty="0"/>
          </a:p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ShouldQueue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تجعل المستمع غير متزامن عبر الطوابير مباشرة.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949440" y="5486400"/>
            <a:ext cx="4690872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3A3F52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4824" y="5632704"/>
            <a:ext cx="237744" cy="23774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132320" y="5568696"/>
            <a:ext cx="39136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C53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تلميح:  </a:t>
            </a:r>
            <a:r>
              <a:rPr lang="en-US" sz="12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للبث المباشر للمتصفح: </a:t>
            </a:r>
            <a:r>
              <a:rPr lang="en-US" sz="12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Reverb</a:t>
            </a:r>
            <a:r>
              <a:rPr lang="en-US" sz="12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خادم WebSockets الرسمي.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341077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89888" cy="310896"/>
          </a:xfrm>
          <a:prstGeom prst="roundRect">
            <a:avLst>
              <a:gd name="adj" fmla="val 50000"/>
            </a:avLst>
          </a:prstGeom>
          <a:solidFill>
            <a:srgbClr val="FFE4EA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11D4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خدمات الإطار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1155680" y="384048"/>
            <a:ext cx="493776" cy="4937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4062" y="512430"/>
            <a:ext cx="237012" cy="2370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834640" y="310896"/>
            <a:ext cx="8183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70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التخزين المؤقت Cache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 / 35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784080" y="647395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8B84A3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دليل Laravel التقني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6126480" cy="3657600"/>
          </a:xfrm>
          <a:prstGeom prst="roundRect">
            <a:avLst>
              <a:gd name="adj" fmla="val 2250"/>
            </a:avLst>
          </a:prstGeom>
          <a:solidFill>
            <a:srgbClr val="0A0E16"/>
          </a:solidFill>
          <a:ln w="12700">
            <a:solidFill>
              <a:srgbClr val="EFE9F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10" name="Shape 7"/>
          <p:cNvSpPr/>
          <p:nvPr/>
        </p:nvSpPr>
        <p:spPr>
          <a:xfrm>
            <a:off x="749808" y="1472184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1" name="Shape 8"/>
          <p:cNvSpPr/>
          <p:nvPr/>
        </p:nvSpPr>
        <p:spPr>
          <a:xfrm>
            <a:off x="905256" y="1472184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2" name="Shape 9"/>
          <p:cNvSpPr/>
          <p:nvPr/>
        </p:nvSpPr>
        <p:spPr>
          <a:xfrm>
            <a:off x="1060704" y="1472184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3" name="Text 10"/>
          <p:cNvSpPr/>
          <p:nvPr/>
        </p:nvSpPr>
        <p:spPr>
          <a:xfrm>
            <a:off x="1325880" y="1371600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النمط الأشهر: remember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49808" y="1709928"/>
            <a:ext cx="5724144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7FB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نفّذ وخزّن 10 دقائق — أو أعد الجاهز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$stats = Cache::remember(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'dashboard.stats', 600, function () {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Order::selectRaw(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'COUNT(*) c, SUM(total) t'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)-&gt;first();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Cache::forget('dashboard.stats'); // إبطال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Cache::put('key', $value, now()-&gt;addHour());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949440" y="1417320"/>
            <a:ext cx="4690872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مشغلات: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و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افتراضياً، و </a:t>
            </a:r>
            <a:r>
              <a:rPr lang="en-US" sz="13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Redis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الخيار الأول للإنتاج.</a:t>
            </a:r>
            <a:endParaRPr lang="en-US" sz="1350" dirty="0"/>
          </a:p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خزّن الغالي فقط: استعلامات ثقيلة، نتائج APIs خارجية، وإعدادات شبه ثابتة.</a:t>
            </a:r>
            <a:endParaRPr lang="en-US" sz="1350" dirty="0"/>
          </a:p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الإبطال أهم من التخزين: امسح المفتاح عند تغيّر البيانات لا تنتظر انتهاء المدة.</a:t>
            </a:r>
            <a:endParaRPr lang="en-US" sz="1350" dirty="0"/>
          </a:p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مجموعات قابلة للإبطال دفعة واحدة عبر </a:t>
            </a:r>
            <a:r>
              <a:rPr lang="en-US" sz="13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Tags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(مع Redis).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949440" y="5349240"/>
            <a:ext cx="469087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3A3F52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4824" y="5495544"/>
            <a:ext cx="237744" cy="23774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132320" y="5431536"/>
            <a:ext cx="3913632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C53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تلميح:  </a:t>
            </a:r>
            <a:r>
              <a:rPr lang="en-US" sz="12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قِس قبل أن تخزّن: الكاش يخفي الأخطاء أحياناً — أضفه حيث يثبت القياس حاجته.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5981187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89888" cy="310896"/>
          </a:xfrm>
          <a:prstGeom prst="roundRect">
            <a:avLst>
              <a:gd name="adj" fmla="val 50000"/>
            </a:avLst>
          </a:prstGeom>
          <a:solidFill>
            <a:srgbClr val="FFE4EA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11D4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خدمات الإطار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1155680" y="384048"/>
            <a:ext cx="493776" cy="4937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4062" y="512430"/>
            <a:ext cx="237012" cy="2370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834640" y="310896"/>
            <a:ext cx="8183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70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التعريب Localization ودعم العربية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 / 35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784080" y="647395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8B84A3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دليل Laravel التقني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6126480" cy="3017520"/>
          </a:xfrm>
          <a:prstGeom prst="roundRect">
            <a:avLst>
              <a:gd name="adj" fmla="val 2727"/>
            </a:avLst>
          </a:prstGeom>
          <a:solidFill>
            <a:srgbClr val="0A0E16"/>
          </a:solidFill>
          <a:ln w="12700">
            <a:solidFill>
              <a:srgbClr val="EFE9F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10" name="Shape 7"/>
          <p:cNvSpPr/>
          <p:nvPr/>
        </p:nvSpPr>
        <p:spPr>
          <a:xfrm>
            <a:off x="749808" y="1472184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1" name="Shape 8"/>
          <p:cNvSpPr/>
          <p:nvPr/>
        </p:nvSpPr>
        <p:spPr>
          <a:xfrm>
            <a:off x="905256" y="1472184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2" name="Shape 9"/>
          <p:cNvSpPr/>
          <p:nvPr/>
        </p:nvSpPr>
        <p:spPr>
          <a:xfrm>
            <a:off x="1060704" y="1472184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3" name="Text 10"/>
          <p:cNvSpPr/>
          <p:nvPr/>
        </p:nvSpPr>
        <p:spPr>
          <a:xfrm>
            <a:off x="1325880" y="1371600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lang/ar/messages.php + الاستخدام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49808" y="1709928"/>
            <a:ext cx="5724144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7FB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lang/ar/messages.php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[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'welcome' =&gt; 'أهلاً بك يا :name',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__('messages.welcome', ['name' =&gt; 'يوسف']);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App::setLocale('ar'); // تبديل اللغة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4526280"/>
            <a:ext cx="6126480" cy="1554480"/>
          </a:xfrm>
          <a:prstGeom prst="roundRect">
            <a:avLst>
              <a:gd name="adj" fmla="val 5294"/>
            </a:avLst>
          </a:prstGeom>
          <a:solidFill>
            <a:srgbClr val="0A0E16"/>
          </a:solidFill>
          <a:ln w="12700">
            <a:solidFill>
              <a:srgbClr val="EFE9F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16" name="Shape 13"/>
          <p:cNvSpPr/>
          <p:nvPr/>
        </p:nvSpPr>
        <p:spPr>
          <a:xfrm>
            <a:off x="749808" y="4672584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7" name="Shape 14"/>
          <p:cNvSpPr/>
          <p:nvPr/>
        </p:nvSpPr>
        <p:spPr>
          <a:xfrm>
            <a:off x="905256" y="4672584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8" name="Shape 15"/>
          <p:cNvSpPr/>
          <p:nvPr/>
        </p:nvSpPr>
        <p:spPr>
          <a:xfrm>
            <a:off x="1060704" y="4672584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9" name="Text 16"/>
          <p:cNvSpPr/>
          <p:nvPr/>
        </p:nvSpPr>
        <p:spPr>
          <a:xfrm>
            <a:off x="1325880" y="4572000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اتجاه الواجهة في التخطيط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49808" y="4910328"/>
            <a:ext cx="572414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 lang="{{ app()-&gt;getLocale() }}"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dir="{{ app()-&gt;getLocale() === 'ar'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? 'rtl' : 'ltr' }}"&gt;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949440" y="1417320"/>
            <a:ext cx="469087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أظهر ملفات اللغة أولاً: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artisan lang:publish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ثم أنشئ مجلد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.</a:t>
            </a:r>
            <a:endParaRPr lang="en-US" sz="1350" dirty="0"/>
          </a:p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ملفات </a:t>
            </a:r>
            <a:r>
              <a:rPr lang="en-US" sz="13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PHP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بمفاتيح منظمة، أو ملف </a:t>
            </a:r>
            <a:r>
              <a:rPr lang="en-US" sz="13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JSON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واحد يترجم الجُمل مباشرة.</a:t>
            </a:r>
            <a:endParaRPr lang="en-US" sz="1350" dirty="0"/>
          </a:p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ترجمات التحقق Validation العربية </a:t>
            </a:r>
            <a:r>
              <a:rPr lang="en-US" sz="13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جاهزة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من مشروع Laravel-Lang.</a:t>
            </a:r>
            <a:endParaRPr lang="en-US" sz="1350" dirty="0"/>
          </a:p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دالة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trans_choice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تتعامل مع صيغ الجمع — والعربية لها قواعد جمع خاصة يدعمها Laravel.</a:t>
            </a:r>
            <a:endParaRPr lang="en-US" sz="1350" dirty="0"/>
          </a:p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لا تنسَ في الواجهة: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dir="rtl"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وخطاً عربياً مناسباً في CSS.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7356535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77924" cy="310896"/>
          </a:xfrm>
          <a:prstGeom prst="roundRect">
            <a:avLst>
              <a:gd name="adj" fmla="val 50000"/>
            </a:avLst>
          </a:prstGeom>
          <a:solidFill>
            <a:srgbClr val="FFE4EA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6779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11D4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الجودة والإطلاق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1155680" y="384048"/>
            <a:ext cx="493776" cy="4937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4062" y="512430"/>
            <a:ext cx="237012" cy="2370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834640" y="310896"/>
            <a:ext cx="8183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70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الاختبارات الآلية مع Pest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 / 35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784080" y="647395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8B84A3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دليل Laravel التقني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6126480" cy="3657600"/>
          </a:xfrm>
          <a:prstGeom prst="roundRect">
            <a:avLst>
              <a:gd name="adj" fmla="val 2250"/>
            </a:avLst>
          </a:prstGeom>
          <a:solidFill>
            <a:srgbClr val="0A0E16"/>
          </a:solidFill>
          <a:ln w="12700">
            <a:solidFill>
              <a:srgbClr val="EFE9F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10" name="Shape 7"/>
          <p:cNvSpPr/>
          <p:nvPr/>
        </p:nvSpPr>
        <p:spPr>
          <a:xfrm>
            <a:off x="749808" y="1472184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1" name="Shape 8"/>
          <p:cNvSpPr/>
          <p:nvPr/>
        </p:nvSpPr>
        <p:spPr>
          <a:xfrm>
            <a:off x="905256" y="1472184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2" name="Shape 9"/>
          <p:cNvSpPr/>
          <p:nvPr/>
        </p:nvSpPr>
        <p:spPr>
          <a:xfrm>
            <a:off x="1060704" y="1472184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3" name="Text 10"/>
          <p:cNvSpPr/>
          <p:nvPr/>
        </p:nvSpPr>
        <p:spPr>
          <a:xfrm>
            <a:off x="1325880" y="1371600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tests/Feature/PostTest.php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49808" y="1709928"/>
            <a:ext cx="5724144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it('creates a post', function () {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$user = User::factory()-&gt;create();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$this-&gt;actingAs($user)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-&gt;post('/posts', [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'title' =&gt; 'تجربة',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'body'  =&gt; 'محتوى المقال',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])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-&gt;assertRedirect('/posts');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$this-&gt;assertDatabaseHas('posts',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['title' =&gt; 'تجربة']);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5166360"/>
            <a:ext cx="6126480" cy="960120"/>
          </a:xfrm>
          <a:prstGeom prst="roundRect">
            <a:avLst>
              <a:gd name="adj" fmla="val 8571"/>
            </a:avLst>
          </a:prstGeom>
          <a:solidFill>
            <a:srgbClr val="0A0E16"/>
          </a:solidFill>
          <a:ln w="12700">
            <a:solidFill>
              <a:srgbClr val="EFE9F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16" name="Shape 13"/>
          <p:cNvSpPr/>
          <p:nvPr/>
        </p:nvSpPr>
        <p:spPr>
          <a:xfrm>
            <a:off x="749808" y="5312664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7" name="Shape 14"/>
          <p:cNvSpPr/>
          <p:nvPr/>
        </p:nvSpPr>
        <p:spPr>
          <a:xfrm>
            <a:off x="905256" y="5312664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8" name="Shape 15"/>
          <p:cNvSpPr/>
          <p:nvPr/>
        </p:nvSpPr>
        <p:spPr>
          <a:xfrm>
            <a:off x="1060704" y="5312664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9" name="Text 16"/>
          <p:cNvSpPr/>
          <p:nvPr/>
        </p:nvSpPr>
        <p:spPr>
          <a:xfrm>
            <a:off x="1325880" y="5212080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49808" y="5550408"/>
            <a:ext cx="572414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artisan test --parallel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949440" y="1417320"/>
            <a:ext cx="469087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Pest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هو الافتراضي بصياغة أنظف وأقصر — و PHPUnit مدعوم بالكامل.</a:t>
            </a:r>
            <a:endParaRPr lang="en-US" sz="1350" dirty="0"/>
          </a:p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RefreshDatabase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تمنحك قاعدة نظيفة لكل اختبار، </a:t>
            </a:r>
            <a:r>
              <a:rPr lang="en-US" sz="1350" dirty="0" err="1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و</a:t>
            </a:r>
            <a:r>
              <a:rPr lang="ar-OM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مولد البيانات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توفر البيانات.</a:t>
            </a:r>
            <a:endParaRPr lang="en-US" sz="1350" dirty="0"/>
          </a:p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اختبارات </a:t>
            </a:r>
            <a:r>
              <a:rPr lang="en-US" sz="13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Feature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تحاكي طلبات كاملة، و </a:t>
            </a:r>
            <a:r>
              <a:rPr lang="en-US" sz="13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Unit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للوحدات المعزولة.</a:t>
            </a:r>
            <a:endParaRPr lang="en-US" sz="1350" dirty="0"/>
          </a:p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زيّف الخدمات دون آثار جانبية: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Mail::fake()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و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Queue::fake()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و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Storage::fake()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1264823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77924" cy="310896"/>
          </a:xfrm>
          <a:prstGeom prst="roundRect">
            <a:avLst>
              <a:gd name="adj" fmla="val 50000"/>
            </a:avLst>
          </a:prstGeom>
          <a:solidFill>
            <a:srgbClr val="FFE4EA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6779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11D4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الجودة والإطلاق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1155680" y="384048"/>
            <a:ext cx="493776" cy="4937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4062" y="512430"/>
            <a:ext cx="237012" cy="2370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834640" y="310896"/>
            <a:ext cx="8183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70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الأداء والنشر إلى الإنتاج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 / 35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784080" y="647395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8B84A3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دليل Laravel التقني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6126480" cy="4160520"/>
          </a:xfrm>
          <a:prstGeom prst="roundRect">
            <a:avLst>
              <a:gd name="adj" fmla="val 1978"/>
            </a:avLst>
          </a:prstGeom>
          <a:solidFill>
            <a:srgbClr val="0A0E16"/>
          </a:solidFill>
          <a:ln w="12700">
            <a:solidFill>
              <a:srgbClr val="EFE9F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10" name="Shape 7"/>
          <p:cNvSpPr/>
          <p:nvPr/>
        </p:nvSpPr>
        <p:spPr>
          <a:xfrm>
            <a:off x="749808" y="1472184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1" name="Shape 8"/>
          <p:cNvSpPr/>
          <p:nvPr/>
        </p:nvSpPr>
        <p:spPr>
          <a:xfrm>
            <a:off x="905256" y="1472184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2" name="Shape 9"/>
          <p:cNvSpPr/>
          <p:nvPr/>
        </p:nvSpPr>
        <p:spPr>
          <a:xfrm>
            <a:off x="1060704" y="1472184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OM"/>
          </a:p>
        </p:txBody>
      </p:sp>
      <p:sp>
        <p:nvSpPr>
          <p:cNvPr id="13" name="Text 10"/>
          <p:cNvSpPr/>
          <p:nvPr/>
        </p:nvSpPr>
        <p:spPr>
          <a:xfrm>
            <a:off x="1325880" y="1371600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 — خطوات النشر الأساسية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49808" y="1709928"/>
            <a:ext cx="5724144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composer install --optimize-autoloader \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--no-dev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artisan migrate --force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7FB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تخزين مؤقت لكل شيء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artisan config:cache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artisan route:cache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artisan view:cache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7FB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أعد تشغيل معالجات الطوابير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00" dirty="0">
                <a:solidFill>
                  <a:srgbClr val="D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artisan queue:restart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949440" y="1417320"/>
            <a:ext cx="4690872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في الإنتاج دائماً: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APP_ENV=production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و </a:t>
            </a:r>
            <a:r>
              <a:rPr lang="en-US" sz="12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APP_DEBUG=false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— التتبع المكشوف ثغرة.</a:t>
            </a:r>
            <a:endParaRPr lang="en-US" sz="1350" dirty="0"/>
          </a:p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خيارات الاستضافة: </a:t>
            </a:r>
            <a:r>
              <a:rPr lang="en-US" sz="13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Laravel Cloud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المُدارة، أو </a:t>
            </a:r>
            <a:r>
              <a:rPr lang="en-US" sz="13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Forge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لإدارة خوادمك، أو VPS مع Nginx.</a:t>
            </a:r>
            <a:endParaRPr lang="en-US" sz="1350" dirty="0"/>
          </a:p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أداء أعلى؟ </a:t>
            </a:r>
            <a:r>
              <a:rPr lang="en-US" sz="13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Octane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يبقي التطبيق بالذاكرة عبر FrankenPHP أو Swoole.</a:t>
            </a:r>
            <a:endParaRPr lang="en-US" sz="1350" dirty="0"/>
          </a:p>
          <a:p>
            <a:pPr marL="165100" indent="-165100" algn="r" rtl="1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راقب الإنتاج بـ </a:t>
            </a:r>
            <a:r>
              <a:rPr lang="en-US" sz="13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Nightwatch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، وحلل محلياً بـ </a:t>
            </a:r>
            <a:r>
              <a:rPr lang="en-US" sz="13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Telescope</a:t>
            </a:r>
            <a:r>
              <a:rPr lang="en-US" sz="13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949440" y="5577840"/>
            <a:ext cx="4690872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3A3F52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4824" y="5724144"/>
            <a:ext cx="237744" cy="23774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132320" y="5660136"/>
            <a:ext cx="3913632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C53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تلميح:  </a:t>
            </a:r>
            <a:r>
              <a:rPr lang="en-US" sz="12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اختصار: </a:t>
            </a:r>
            <a:r>
              <a:rPr lang="en-US" sz="11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artisan optimize</a:t>
            </a:r>
            <a:r>
              <a:rPr lang="en-US" sz="12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ينفذ أوامر الكاش دفعة واحدة.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5062800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77924" cy="310896"/>
          </a:xfrm>
          <a:prstGeom prst="roundRect">
            <a:avLst>
              <a:gd name="adj" fmla="val 50000"/>
            </a:avLst>
          </a:prstGeom>
          <a:solidFill>
            <a:srgbClr val="FFE4EA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6779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11D4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الجودة والإطلاق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1155680" y="384048"/>
            <a:ext cx="493776" cy="4937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4062" y="512430"/>
            <a:ext cx="237012" cy="2370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834640" y="310896"/>
            <a:ext cx="8183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70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أفضل الممارسات ومصادر تكمل الرحلة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 / 35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784080" y="647395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8B84A3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دليل Laravel التقني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263640" y="1325880"/>
            <a:ext cx="5376672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FE9F2"/>
            </a:solidFill>
            <a:prstDash val="solid"/>
          </a:ln>
          <a:effectLst>
            <a:outerShdw blurRad="889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10" name="Text 7"/>
          <p:cNvSpPr/>
          <p:nvPr/>
        </p:nvSpPr>
        <p:spPr>
          <a:xfrm>
            <a:off x="6492240" y="1481328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عادات تصنع مشروعاً يعيش طويلاً</a:t>
            </a:r>
            <a:endParaRPr lang="en-US" sz="15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73968" y="199339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92240" y="19659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2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متحكمات نحيفة: انقل منطق العمل إلى </a:t>
            </a:r>
            <a:r>
              <a:rPr lang="en-US" sz="12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Actions</a:t>
            </a:r>
            <a:r>
              <a:rPr lang="en-US" sz="12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أو Services.</a:t>
            </a:r>
            <a:endParaRPr lang="en-US" sz="12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73968" y="2560320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92240" y="253288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2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لا تستدعِ </a:t>
            </a:r>
            <a:r>
              <a:rPr lang="en-US" sz="11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env()</a:t>
            </a:r>
            <a:r>
              <a:rPr lang="en-US" sz="12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خارج ملفات config إطلاقاً.</a:t>
            </a:r>
            <a:endParaRPr lang="en-US" sz="12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73968" y="3127248"/>
            <a:ext cx="219456" cy="21945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492240" y="3099816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2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التحقق دائماً عبر </a:t>
            </a:r>
            <a:r>
              <a:rPr lang="en-US" sz="12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Form Requests</a:t>
            </a:r>
            <a:r>
              <a:rPr lang="en-US" sz="12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— لا مدخلات خام.</a:t>
            </a:r>
            <a:endParaRPr lang="en-US" sz="12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73968" y="3694176"/>
            <a:ext cx="219456" cy="21945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492240" y="366674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2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استخدم </a:t>
            </a:r>
            <a:r>
              <a:rPr lang="en-US" sz="11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with()</a:t>
            </a:r>
            <a:r>
              <a:rPr lang="en-US" sz="12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ضد N+1 وراقب استعلاماتك باستمرار.</a:t>
            </a:r>
            <a:endParaRPr lang="en-US" sz="12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73968" y="4261104"/>
            <a:ext cx="219456" cy="219456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492240" y="4233672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2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اختبر المسارات الحرجة: الدفع، الصلاحيات، والتسجيل.</a:t>
            </a:r>
            <a:endParaRPr lang="en-US" sz="125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73968" y="4828032"/>
            <a:ext cx="219456" cy="219456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6492240" y="48006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2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وحّد تنسيق الكود بأداة </a:t>
            </a:r>
            <a:r>
              <a:rPr lang="en-US" sz="12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Pint</a:t>
            </a:r>
            <a:r>
              <a:rPr lang="en-US" sz="12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الرسمية قبل كل commit.</a:t>
            </a:r>
            <a:endParaRPr lang="en-US" sz="1250" dirty="0"/>
          </a:p>
        </p:txBody>
      </p:sp>
      <p:sp>
        <p:nvSpPr>
          <p:cNvPr id="23" name="Shape 14"/>
          <p:cNvSpPr/>
          <p:nvPr/>
        </p:nvSpPr>
        <p:spPr>
          <a:xfrm>
            <a:off x="548640" y="1325880"/>
            <a:ext cx="548640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FE9F2"/>
            </a:solidFill>
            <a:prstDash val="solid"/>
          </a:ln>
          <a:effectLst>
            <a:outerShdw blurRad="889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24" name="Text 15"/>
          <p:cNvSpPr/>
          <p:nvPr/>
        </p:nvSpPr>
        <p:spPr>
          <a:xfrm>
            <a:off x="777240" y="148132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مصادر موثوقة للتعمق</a:t>
            </a:r>
            <a:endParaRPr lang="en-US" sz="1550" dirty="0"/>
          </a:p>
        </p:txBody>
      </p:sp>
      <p:sp>
        <p:nvSpPr>
          <p:cNvPr id="25" name="Text 16"/>
          <p:cNvSpPr/>
          <p:nvPr/>
        </p:nvSpPr>
        <p:spPr>
          <a:xfrm>
            <a:off x="777240" y="20116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laravel.com/docs</a:t>
            </a:r>
            <a:endParaRPr lang="en-US" sz="1350" dirty="0"/>
          </a:p>
        </p:txBody>
      </p:sp>
      <p:sp>
        <p:nvSpPr>
          <p:cNvPr id="26" name="Text 17"/>
          <p:cNvSpPr/>
          <p:nvPr/>
        </p:nvSpPr>
        <p:spPr>
          <a:xfrm>
            <a:off x="777240" y="231343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150" dirty="0">
                <a:solidFill>
                  <a:srgbClr val="8B84A3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التوثيق الرسمي — مرجعك الأول والأدق دائماً</a:t>
            </a:r>
            <a:endParaRPr lang="en-US" sz="1150" dirty="0"/>
          </a:p>
        </p:txBody>
      </p:sp>
      <p:sp>
        <p:nvSpPr>
          <p:cNvPr id="27" name="Text 18"/>
          <p:cNvSpPr/>
          <p:nvPr/>
        </p:nvSpPr>
        <p:spPr>
          <a:xfrm>
            <a:off x="777240" y="285292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bootcamp.laravel.com</a:t>
            </a:r>
            <a:endParaRPr lang="en-US" sz="1350" dirty="0"/>
          </a:p>
        </p:txBody>
      </p:sp>
      <p:sp>
        <p:nvSpPr>
          <p:cNvPr id="28" name="Text 19"/>
          <p:cNvSpPr/>
          <p:nvPr/>
        </p:nvSpPr>
        <p:spPr>
          <a:xfrm>
            <a:off x="777240" y="3154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150" dirty="0">
                <a:solidFill>
                  <a:srgbClr val="8B84A3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بناء تطبيق كامل خطوة بخطوة للمبتدئين</a:t>
            </a:r>
            <a:endParaRPr lang="en-US" sz="1150" dirty="0"/>
          </a:p>
        </p:txBody>
      </p:sp>
      <p:sp>
        <p:nvSpPr>
          <p:cNvPr id="29" name="Text 20"/>
          <p:cNvSpPr/>
          <p:nvPr/>
        </p:nvSpPr>
        <p:spPr>
          <a:xfrm>
            <a:off x="777240" y="369417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Laracasts</a:t>
            </a:r>
            <a:endParaRPr lang="en-US" sz="1350" dirty="0"/>
          </a:p>
        </p:txBody>
      </p:sp>
      <p:sp>
        <p:nvSpPr>
          <p:cNvPr id="30" name="Text 21"/>
          <p:cNvSpPr/>
          <p:nvPr/>
        </p:nvSpPr>
        <p:spPr>
          <a:xfrm>
            <a:off x="777240" y="39959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150" dirty="0">
                <a:solidFill>
                  <a:srgbClr val="8B84A3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آلاف الدروس المرئية من مجتمع Laravel</a:t>
            </a:r>
            <a:endParaRPr lang="en-US" sz="1150" dirty="0"/>
          </a:p>
        </p:txBody>
      </p:sp>
      <p:sp>
        <p:nvSpPr>
          <p:cNvPr id="31" name="Text 22"/>
          <p:cNvSpPr/>
          <p:nvPr/>
        </p:nvSpPr>
        <p:spPr>
          <a:xfrm>
            <a:off x="777240" y="453542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Laravel News</a:t>
            </a:r>
            <a:endParaRPr lang="en-US" sz="1350" dirty="0"/>
          </a:p>
        </p:txBody>
      </p:sp>
      <p:sp>
        <p:nvSpPr>
          <p:cNvPr id="32" name="Text 23"/>
          <p:cNvSpPr/>
          <p:nvPr/>
        </p:nvSpPr>
        <p:spPr>
          <a:xfrm>
            <a:off x="777240" y="483717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150" dirty="0">
                <a:solidFill>
                  <a:srgbClr val="8B84A3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أخبار الإطار والحزم الجديدة أولاً بأول</a:t>
            </a:r>
            <a:endParaRPr lang="en-US" sz="1150" dirty="0"/>
          </a:p>
        </p:txBody>
      </p:sp>
      <p:sp>
        <p:nvSpPr>
          <p:cNvPr id="33" name="Shape 24"/>
          <p:cNvSpPr/>
          <p:nvPr/>
        </p:nvSpPr>
        <p:spPr>
          <a:xfrm>
            <a:off x="548640" y="5623560"/>
            <a:ext cx="11091672" cy="685800"/>
          </a:xfrm>
          <a:prstGeom prst="roundRect">
            <a:avLst>
              <a:gd name="adj" fmla="val 13333"/>
            </a:avLst>
          </a:prstGeom>
          <a:solidFill>
            <a:srgbClr val="FFE4EA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34" name="Text 25"/>
          <p:cNvSpPr/>
          <p:nvPr/>
        </p:nvSpPr>
        <p:spPr>
          <a:xfrm>
            <a:off x="914400" y="5742432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500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أفضل طريقة لإتقان Laravel: </a:t>
            </a:r>
            <a:r>
              <a:rPr lang="en-US" sz="150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ابنِ مشروعاً حقيقياً</a:t>
            </a:r>
            <a:r>
              <a:rPr lang="en-US" sz="1500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— وليكن هذا الدليل خريطتك على الطريق.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7193804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77924" cy="310896"/>
          </a:xfrm>
          <a:prstGeom prst="roundRect">
            <a:avLst>
              <a:gd name="adj" fmla="val 50000"/>
            </a:avLst>
          </a:prstGeom>
          <a:solidFill>
            <a:srgbClr val="FFE4EA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6779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11D4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ملخص وخطوات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1155680" y="384048"/>
            <a:ext cx="493776" cy="4937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4062" y="512430"/>
            <a:ext cx="237012" cy="2370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834640" y="310896"/>
            <a:ext cx="8183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70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ملخص الرحلة والخطوات التالية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 / 37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784080" y="647395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8B84A3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دليل Laravel التقني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263640" y="1325880"/>
            <a:ext cx="5376672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FE9F2"/>
            </a:solidFill>
            <a:prstDash val="solid"/>
          </a:ln>
          <a:effectLst>
            <a:outerShdw blurRad="889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10" name="Text 7"/>
          <p:cNvSpPr/>
          <p:nvPr/>
        </p:nvSpPr>
        <p:spPr>
          <a:xfrm>
            <a:off x="6492240" y="1481328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ما الذي أتقنته في هذه الرحلة</a:t>
            </a:r>
            <a:endParaRPr lang="en-US" sz="15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73968" y="199339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92240" y="19659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2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أساسيات Laravel: التوجيه، المتحكمات، وBlade.</a:t>
            </a:r>
            <a:endParaRPr lang="en-US" sz="12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73968" y="2560320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92240" y="253288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2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Eloquent ORM: النماذج، العلاقات، </a:t>
            </a:r>
            <a:r>
              <a:rPr lang="en-US" sz="1250" dirty="0" err="1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و</a:t>
            </a:r>
            <a:r>
              <a:rPr lang="ar-OM" sz="12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ملفات قواعد البيانات</a:t>
            </a:r>
            <a:r>
              <a:rPr lang="en-US" sz="12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.</a:t>
            </a:r>
            <a:endParaRPr lang="en-US" sz="12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73968" y="3127248"/>
            <a:ext cx="219456" cy="21945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492240" y="3099816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2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بناء واجهات REST API وحمايتها بـ Sanctum.</a:t>
            </a:r>
            <a:endParaRPr lang="en-US" sz="12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73968" y="3694176"/>
            <a:ext cx="219456" cy="21945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492240" y="366674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2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الطوابير والبريد والإشعارات والأحداث.</a:t>
            </a:r>
            <a:endParaRPr lang="en-US" sz="12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73968" y="4261104"/>
            <a:ext cx="219456" cy="219456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492240" y="4233672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2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التخزين المؤقت، التعريب، وإدارة الملفات.</a:t>
            </a:r>
            <a:endParaRPr lang="en-US" sz="125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73968" y="4828032"/>
            <a:ext cx="219456" cy="219456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6492240" y="48006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2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الاختبارات الآلية، الأداء، والنشر للإنتاج.</a:t>
            </a:r>
            <a:endParaRPr lang="en-US" sz="1250" dirty="0"/>
          </a:p>
        </p:txBody>
      </p:sp>
      <p:sp>
        <p:nvSpPr>
          <p:cNvPr id="23" name="Shape 14"/>
          <p:cNvSpPr/>
          <p:nvPr/>
        </p:nvSpPr>
        <p:spPr>
          <a:xfrm>
            <a:off x="548640" y="1325880"/>
            <a:ext cx="548640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FE9F2"/>
            </a:solidFill>
            <a:prstDash val="solid"/>
          </a:ln>
          <a:effectLst>
            <a:outerShdw blurRad="889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24" name="Text 15"/>
          <p:cNvSpPr/>
          <p:nvPr/>
        </p:nvSpPr>
        <p:spPr>
          <a:xfrm>
            <a:off x="777240" y="148132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الخطوات التالية</a:t>
            </a:r>
            <a:endParaRPr lang="en-US" sz="1550" dirty="0"/>
          </a:p>
        </p:txBody>
      </p:sp>
      <p:sp>
        <p:nvSpPr>
          <p:cNvPr id="25" name="Text 16"/>
          <p:cNvSpPr/>
          <p:nvPr/>
        </p:nvSpPr>
        <p:spPr>
          <a:xfrm>
            <a:off x="777240" y="20116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11D48"/>
                </a:solidFill>
                <a:latin typeface="IBM Plex Sans Arabic" pitchFamily="34" charset="0"/>
                <a:ea typeface="Courier New" pitchFamily="34" charset="-122"/>
                <a:cs typeface="IBM Plex Sans Arabic" pitchFamily="34" charset="-120"/>
              </a:rPr>
              <a:t>ابنِ مشروعاً حقيقياً</a:t>
            </a:r>
            <a:endParaRPr lang="en-US" sz="1350" dirty="0"/>
          </a:p>
        </p:txBody>
      </p:sp>
      <p:sp>
        <p:nvSpPr>
          <p:cNvPr id="26" name="Text 17"/>
          <p:cNvSpPr/>
          <p:nvPr/>
        </p:nvSpPr>
        <p:spPr>
          <a:xfrm>
            <a:off x="777240" y="231343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1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طبّق كل ما تعلمته في تطبيق متكامل من الصفر.</a:t>
            </a:r>
            <a:endParaRPr lang="en-US" sz="1150" dirty="0"/>
          </a:p>
        </p:txBody>
      </p:sp>
      <p:sp>
        <p:nvSpPr>
          <p:cNvPr id="27" name="Text 18"/>
          <p:cNvSpPr/>
          <p:nvPr/>
        </p:nvSpPr>
        <p:spPr>
          <a:xfrm>
            <a:off x="777240" y="285292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11D48"/>
                </a:solidFill>
                <a:latin typeface="IBM Plex Sans Arabic" pitchFamily="34" charset="0"/>
                <a:ea typeface="Courier New" pitchFamily="34" charset="-122"/>
                <a:cs typeface="IBM Plex Sans Arabic" pitchFamily="34" charset="-120"/>
              </a:rPr>
              <a:t>راجع التوثيق باستمرار</a:t>
            </a:r>
            <a:endParaRPr lang="en-US" sz="1350" dirty="0"/>
          </a:p>
        </p:txBody>
      </p:sp>
      <p:sp>
        <p:nvSpPr>
          <p:cNvPr id="28" name="Text 19"/>
          <p:cNvSpPr/>
          <p:nvPr/>
        </p:nvSpPr>
        <p:spPr>
          <a:xfrm>
            <a:off x="777240" y="3154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1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laravel.com/docs مرجعك الأول والأدق.</a:t>
            </a:r>
            <a:endParaRPr lang="en-US" sz="1150" dirty="0"/>
          </a:p>
        </p:txBody>
      </p:sp>
      <p:sp>
        <p:nvSpPr>
          <p:cNvPr id="29" name="Text 20"/>
          <p:cNvSpPr/>
          <p:nvPr/>
        </p:nvSpPr>
        <p:spPr>
          <a:xfrm>
            <a:off x="777240" y="369417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11D48"/>
                </a:solidFill>
                <a:latin typeface="IBM Plex Sans Arabic" pitchFamily="34" charset="0"/>
                <a:ea typeface="Courier New" pitchFamily="34" charset="-122"/>
                <a:cs typeface="IBM Plex Sans Arabic" pitchFamily="34" charset="-120"/>
              </a:rPr>
              <a:t>تدرّب على Laracasts</a:t>
            </a:r>
            <a:endParaRPr lang="en-US" sz="1350" dirty="0"/>
          </a:p>
        </p:txBody>
      </p:sp>
      <p:sp>
        <p:nvSpPr>
          <p:cNvPr id="30" name="Text 21"/>
          <p:cNvSpPr/>
          <p:nvPr/>
        </p:nvSpPr>
        <p:spPr>
          <a:xfrm>
            <a:off x="777240" y="39959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1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دروس مرئية ترفع مستواك خطوة بخطوة.</a:t>
            </a:r>
            <a:endParaRPr lang="en-US" sz="1150" dirty="0"/>
          </a:p>
        </p:txBody>
      </p:sp>
      <p:sp>
        <p:nvSpPr>
          <p:cNvPr id="31" name="Text 22"/>
          <p:cNvSpPr/>
          <p:nvPr/>
        </p:nvSpPr>
        <p:spPr>
          <a:xfrm>
            <a:off x="777240" y="453542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11D48"/>
                </a:solidFill>
                <a:latin typeface="IBM Plex Sans Arabic" pitchFamily="34" charset="0"/>
                <a:ea typeface="Courier New" pitchFamily="34" charset="-122"/>
                <a:cs typeface="IBM Plex Sans Arabic" pitchFamily="34" charset="-120"/>
              </a:rPr>
              <a:t>تابع متجر yusif.om</a:t>
            </a:r>
            <a:endParaRPr lang="en-US" sz="1350" dirty="0"/>
          </a:p>
        </p:txBody>
      </p:sp>
      <p:sp>
        <p:nvSpPr>
          <p:cNvPr id="32" name="Text 23"/>
          <p:cNvSpPr/>
          <p:nvPr/>
        </p:nvSpPr>
        <p:spPr>
          <a:xfrm>
            <a:off x="777240" y="483717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1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مصادر ودروس عربية جديدة أولاً بأول.</a:t>
            </a:r>
            <a:endParaRPr lang="en-US" sz="1150" dirty="0"/>
          </a:p>
        </p:txBody>
      </p:sp>
      <p:sp>
        <p:nvSpPr>
          <p:cNvPr id="33" name="Shape 24"/>
          <p:cNvSpPr/>
          <p:nvPr/>
        </p:nvSpPr>
        <p:spPr>
          <a:xfrm>
            <a:off x="548640" y="5623560"/>
            <a:ext cx="11091672" cy="685800"/>
          </a:xfrm>
          <a:prstGeom prst="roundRect">
            <a:avLst>
              <a:gd name="adj" fmla="val 13333"/>
            </a:avLst>
          </a:prstGeom>
          <a:solidFill>
            <a:srgbClr val="FFE4EA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34" name="Text 25"/>
          <p:cNvSpPr/>
          <p:nvPr/>
        </p:nvSpPr>
        <p:spPr>
          <a:xfrm>
            <a:off x="914400" y="5742432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500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استمر في البناء — كل مشروع جديد تبنيه يرسّخ خبرتك ويقرّبك من الاحتراف.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0343625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77924" cy="310896"/>
          </a:xfrm>
          <a:prstGeom prst="roundRect">
            <a:avLst>
              <a:gd name="adj" fmla="val 50000"/>
            </a:avLst>
          </a:prstGeom>
          <a:solidFill>
            <a:srgbClr val="FFE4EA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6779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11D4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ختام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1155680" y="384048"/>
            <a:ext cx="493776" cy="4937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4062" y="512430"/>
            <a:ext cx="237012" cy="2370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834640" y="310896"/>
            <a:ext cx="8183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70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شكراً لمتابعتك حتى النهاية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 / 37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784080" y="647395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8B84A3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دليل Laravel التقني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263640" y="1325880"/>
            <a:ext cx="5376672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FE9F2"/>
            </a:solidFill>
            <a:prstDash val="solid"/>
          </a:ln>
          <a:effectLst>
            <a:outerShdw blurRad="889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10" name="Text 7"/>
          <p:cNvSpPr/>
          <p:nvPr/>
        </p:nvSpPr>
        <p:spPr>
          <a:xfrm>
            <a:off x="6492240" y="1481328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تواصل معنا</a:t>
            </a:r>
            <a:endParaRPr lang="en-US" sz="15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73968" y="199339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92240" y="19659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2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الموقع الإلكتروني: yusif.om</a:t>
            </a:r>
            <a:endParaRPr lang="en-US" sz="12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73968" y="2560320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92240" y="253288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2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الهاتف وواتساب: +986998957933</a:t>
            </a:r>
            <a:endParaRPr lang="en-US" sz="12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73968" y="3127248"/>
            <a:ext cx="219456" cy="21945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492240" y="3099816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2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إنستغرام: @thisyousuf</a:t>
            </a:r>
            <a:endParaRPr lang="en-US" sz="12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73968" y="3694176"/>
            <a:ext cx="219456" cy="21945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492240" y="366674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2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متجر إنستغرام: yusifstore_om</a:t>
            </a:r>
            <a:endParaRPr lang="en-US" sz="12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73968" y="4261104"/>
            <a:ext cx="219456" cy="219456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492240" y="4233672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2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المحتوى: دروس ومصادر تقنية بالعربية</a:t>
            </a:r>
            <a:endParaRPr lang="en-US" sz="125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73968" y="4828032"/>
            <a:ext cx="219456" cy="219456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6492240" y="48006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2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الدليل: دليل Laravel التقني الكامل</a:t>
            </a:r>
            <a:endParaRPr lang="en-US" sz="1250" dirty="0"/>
          </a:p>
        </p:txBody>
      </p:sp>
      <p:sp>
        <p:nvSpPr>
          <p:cNvPr id="23" name="Shape 14"/>
          <p:cNvSpPr/>
          <p:nvPr/>
        </p:nvSpPr>
        <p:spPr>
          <a:xfrm>
            <a:off x="548640" y="1325880"/>
            <a:ext cx="548640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FE9F2"/>
            </a:solidFill>
            <a:prstDash val="solid"/>
          </a:ln>
          <a:effectLst>
            <a:outerShdw blurRad="889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OM"/>
          </a:p>
        </p:txBody>
      </p:sp>
      <p:sp>
        <p:nvSpPr>
          <p:cNvPr id="24" name="Text 15"/>
          <p:cNvSpPr/>
          <p:nvPr/>
        </p:nvSpPr>
        <p:spPr>
          <a:xfrm>
            <a:off x="777240" y="148132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قبل أن تغادر</a:t>
            </a:r>
            <a:endParaRPr lang="en-US" sz="1550" dirty="0"/>
          </a:p>
        </p:txBody>
      </p:sp>
      <p:sp>
        <p:nvSpPr>
          <p:cNvPr id="25" name="Text 16"/>
          <p:cNvSpPr/>
          <p:nvPr/>
        </p:nvSpPr>
        <p:spPr>
          <a:xfrm>
            <a:off x="777240" y="20116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11D48"/>
                </a:solidFill>
                <a:latin typeface="IBM Plex Sans Arabic" pitchFamily="34" charset="0"/>
                <a:ea typeface="Courier New" pitchFamily="34" charset="-122"/>
                <a:cs typeface="IBM Plex Sans Arabic" pitchFamily="34" charset="-120"/>
              </a:rPr>
              <a:t>وصلت إلى النهاية</a:t>
            </a:r>
            <a:endParaRPr lang="en-US" sz="1350" dirty="0"/>
          </a:p>
        </p:txBody>
      </p:sp>
      <p:sp>
        <p:nvSpPr>
          <p:cNvPr id="26" name="Text 17"/>
          <p:cNvSpPr/>
          <p:nvPr/>
        </p:nvSpPr>
        <p:spPr>
          <a:xfrm>
            <a:off x="777240" y="231343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1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أتممت رحلة دليل Laravel بالعربية كاملةً.</a:t>
            </a:r>
            <a:endParaRPr lang="en-US" sz="1150" dirty="0"/>
          </a:p>
        </p:txBody>
      </p:sp>
      <p:sp>
        <p:nvSpPr>
          <p:cNvPr id="27" name="Text 18"/>
          <p:cNvSpPr/>
          <p:nvPr/>
        </p:nvSpPr>
        <p:spPr>
          <a:xfrm>
            <a:off x="777240" y="285292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11D48"/>
                </a:solidFill>
                <a:latin typeface="IBM Plex Sans Arabic" pitchFamily="34" charset="0"/>
                <a:ea typeface="Courier New" pitchFamily="34" charset="-122"/>
                <a:cs typeface="IBM Plex Sans Arabic" pitchFamily="34" charset="-120"/>
              </a:rPr>
              <a:t>أساس متين بين يديك</a:t>
            </a:r>
            <a:endParaRPr lang="en-US" sz="1350" dirty="0"/>
          </a:p>
        </p:txBody>
      </p:sp>
      <p:sp>
        <p:nvSpPr>
          <p:cNvPr id="28" name="Text 19"/>
          <p:cNvSpPr/>
          <p:nvPr/>
        </p:nvSpPr>
        <p:spPr>
          <a:xfrm>
            <a:off x="777240" y="3154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1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تمتلك الآن أدوات بناء تطبيقات حقيقية.</a:t>
            </a:r>
            <a:endParaRPr lang="en-US" sz="1150" dirty="0"/>
          </a:p>
        </p:txBody>
      </p:sp>
      <p:sp>
        <p:nvSpPr>
          <p:cNvPr id="29" name="Text 20"/>
          <p:cNvSpPr/>
          <p:nvPr/>
        </p:nvSpPr>
        <p:spPr>
          <a:xfrm>
            <a:off x="777240" y="369417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11D48"/>
                </a:solidFill>
                <a:latin typeface="IBM Plex Sans Arabic" pitchFamily="34" charset="0"/>
                <a:ea typeface="Courier New" pitchFamily="34" charset="-122"/>
                <a:cs typeface="IBM Plex Sans Arabic" pitchFamily="34" charset="-120"/>
              </a:rPr>
              <a:t>دورك الآن</a:t>
            </a:r>
            <a:endParaRPr lang="en-US" sz="1350" dirty="0"/>
          </a:p>
        </p:txBody>
      </p:sp>
      <p:sp>
        <p:nvSpPr>
          <p:cNvPr id="30" name="Text 21"/>
          <p:cNvSpPr/>
          <p:nvPr/>
        </p:nvSpPr>
        <p:spPr>
          <a:xfrm>
            <a:off x="777240" y="39959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1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حوّل ما تعلمته إلى مشروع تفخر به.</a:t>
            </a:r>
            <a:endParaRPr lang="en-US" sz="1150" dirty="0"/>
          </a:p>
        </p:txBody>
      </p:sp>
      <p:sp>
        <p:nvSpPr>
          <p:cNvPr id="31" name="Text 22"/>
          <p:cNvSpPr/>
          <p:nvPr/>
        </p:nvSpPr>
        <p:spPr>
          <a:xfrm>
            <a:off x="777240" y="453542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11D48"/>
                </a:solidFill>
                <a:latin typeface="IBM Plex Sans Arabic" pitchFamily="34" charset="0"/>
                <a:ea typeface="Courier New" pitchFamily="34" charset="-122"/>
                <a:cs typeface="IBM Plex Sans Arabic" pitchFamily="34" charset="-120"/>
              </a:rPr>
              <a:t>ابقَ على تواصل</a:t>
            </a:r>
            <a:endParaRPr lang="en-US" sz="1350" dirty="0"/>
          </a:p>
        </p:txBody>
      </p:sp>
      <p:sp>
        <p:nvSpPr>
          <p:cNvPr id="32" name="Text 23"/>
          <p:cNvSpPr/>
          <p:nvPr/>
        </p:nvSpPr>
        <p:spPr>
          <a:xfrm>
            <a:off x="777240" y="483717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150" dirty="0">
                <a:solidFill>
                  <a:srgbClr val="4A426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تابع yusif.om لمزيد من المحتوى العربي.</a:t>
            </a:r>
            <a:endParaRPr lang="en-US" sz="1150" dirty="0"/>
          </a:p>
        </p:txBody>
      </p:sp>
      <p:sp>
        <p:nvSpPr>
          <p:cNvPr id="33" name="Shape 24"/>
          <p:cNvSpPr/>
          <p:nvPr/>
        </p:nvSpPr>
        <p:spPr>
          <a:xfrm>
            <a:off x="548640" y="5623560"/>
            <a:ext cx="11091672" cy="685800"/>
          </a:xfrm>
          <a:prstGeom prst="roundRect">
            <a:avLst>
              <a:gd name="adj" fmla="val 13333"/>
            </a:avLst>
          </a:prstGeom>
          <a:solidFill>
            <a:srgbClr val="FFE4EA"/>
          </a:solidFill>
          <a:ln w="12700">
            <a:solidFill>
              <a:srgbClr val="FFE4EA"/>
            </a:solidFill>
            <a:prstDash val="solid"/>
          </a:ln>
        </p:spPr>
        <p:txBody>
          <a:bodyPr/>
          <a:lstStyle/>
          <a:p>
            <a:endParaRPr lang="en-OM"/>
          </a:p>
        </p:txBody>
      </p:sp>
      <p:sp>
        <p:nvSpPr>
          <p:cNvPr id="34" name="Text 25"/>
          <p:cNvSpPr/>
          <p:nvPr/>
        </p:nvSpPr>
        <p:spPr>
          <a:xfrm>
            <a:off x="914400" y="5742432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500" dirty="0">
                <a:solidFill>
                  <a:srgbClr val="1A143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yusif.om — تعلّم، ابنِ، وأبدع. بالتوفيق في رحلتك مع Laravel!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5480380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 [1783166423551]">
  <a:themeElements>
    <a:clrScheme name="Office">
      <a:dk1>
        <a:srgbClr val="1A1430"/>
      </a:dk1>
      <a:lt1>
        <a:srgbClr val="FBF7F4"/>
      </a:lt1>
      <a:dk2>
        <a:srgbClr val="4A4264"/>
      </a:dk2>
      <a:lt2>
        <a:srgbClr val="EFE9F2"/>
      </a:lt2>
      <a:accent1>
        <a:srgbClr val="FF4D6D"/>
      </a:accent1>
      <a:accent2>
        <a:srgbClr val="7C3AED"/>
      </a:accent2>
      <a:accent3>
        <a:srgbClr val="FFC436"/>
      </a:accent3>
      <a:accent4>
        <a:srgbClr val="19C37D"/>
      </a:accent4>
      <a:accent5>
        <a:srgbClr val="3B82F6"/>
      </a:accent5>
      <a:accent6>
        <a:srgbClr val="E11D48"/>
      </a:accent6>
      <a:hlink>
        <a:srgbClr val="3B82F6"/>
      </a:hlink>
      <a:folHlink>
        <a:srgbClr val="7C3AED"/>
      </a:folHlink>
    </a:clrScheme>
    <a:fontScheme name="Office">
      <a:majorFont>
        <a:latin typeface="Baloo Bhaijaan 2" panose="020F0302020204030204"/>
        <a:ea typeface=""/>
        <a:cs typeface="Baloo Bhaijaan 2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 Arabic" panose="020F0502020204030204"/>
        <a:ea typeface=""/>
        <a:cs typeface="IBM Plex Sans Arabic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F2C1148-3A2C-6F45-8B95-5FC6C90F7622}">
  <we:reference id="f5f369e5-aa35-49d7-ad7b-638152ddb008" version="1.0.0.1" store="EXCatalog" storeType="EXCatalog"/>
  <we:alternateReferences>
    <we:reference id="WA200010001" version="1.0.0.1" store="en-US" storeType="OMEX"/>
  </we:alternateReferences>
  <we:properties>
    <we:property name="claude.fileId" value="&quot;b8e786b1-b35f-4d9d-8dc2-2f1ae862a16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573</TotalTime>
  <Words>5647</Words>
  <Application>Microsoft Macintosh PowerPoint</Application>
  <PresentationFormat>Widescreen</PresentationFormat>
  <Paragraphs>884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37</vt:i4>
      </vt:variant>
    </vt:vector>
  </HeadingPairs>
  <TitlesOfParts>
    <vt:vector size="42" baseType="lpstr">
      <vt:lpstr>Arial</vt:lpstr>
      <vt:lpstr>Courier New</vt:lpstr>
      <vt:lpstr>IBM Plex Sans Arabic</vt:lpstr>
      <vt:lpstr>Office Theme</vt:lpstr>
      <vt:lpstr>Office Theme [1783166423551]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دليل Laravel التقني الشامل</dc:title>
  <dc:subject>PptxGenJS Presentation</dc:subject>
  <dc:creator>Yousuf Al Mawali</dc:creator>
  <cp:lastModifiedBy>Yousuf Al Mawali</cp:lastModifiedBy>
  <cp:revision>11</cp:revision>
  <dcterms:created xsi:type="dcterms:W3CDTF">2026-07-04T10:44:30Z</dcterms:created>
  <dcterms:modified xsi:type="dcterms:W3CDTF">2026-07-06T11:19:48Z</dcterms:modified>
</cp:coreProperties>
</file>